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1097280"/>
            <a:ext cx="164592" cy="457200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88720" y="1005840"/>
            <a:ext cx="102412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萬能科技大學 企業管理系 ｜ 11501 企業資源規劃 (ERP)</a:t>
            </a:r>
          </a:p>
          <a:p>
            <a:pPr>
              <a:spcAft>
                <a:spcPts val="1200"/>
              </a:spcAft>
            </a:pPr>
            <a:r>
              <a:rPr sz="4000" b="1">
                <a:solidFill>
                  <a:srgbClr val="FFFFFF"/>
                </a:solidFill>
                <a:latin typeface="微軟正黑體"/>
              </a:rPr>
              <a:t>第 02 週：第 02 週：企業模式與企業流程管理 (BPR)</a:t>
            </a:r>
          </a:p>
          <a:p>
            <a:pPr>
              <a:spcAft>
                <a:spcPts val="2000"/>
              </a:spcAft>
            </a:pPr>
            <a:r>
              <a:rPr sz="3000" b="1">
                <a:solidFill>
                  <a:srgbClr val="E2E8F0"/>
                </a:solidFill>
                <a:latin typeface="微軟正黑體"/>
              </a:rPr>
              <a:t>CH02 企業資源規劃概說 ｜ 企業流程整合 ✕ Agentic AI 實務 ✕ Antigravity 專案實作</a:t>
            </a:r>
          </a:p>
          <a:p>
            <a:pPr>
              <a:spcAft>
                <a:spcPts val="1000"/>
              </a:spcAft>
            </a:pPr>
            <a:r>
              <a:rPr sz="2800">
                <a:solidFill>
                  <a:srgbClr val="CBD5E1"/>
                </a:solidFill>
                <a:latin typeface="微軟正黑體"/>
              </a:rPr>
              <a:t>班級：進企四系4甲 ｜ 時間：週四 16:20 ~ 17:50 (電腦教室)</a:t>
            </a:r>
          </a:p>
          <a:p>
            <a:r>
              <a:rPr sz="2800" b="1">
                <a:solidFill>
                  <a:srgbClr val="D97706"/>
                </a:solidFill>
                <a:latin typeface="微軟正黑體"/>
              </a:rPr>
              <a:t>授課教師：邱俊維 博士 ｜ ★ 考取 AI 賦能 ERP 或相關證照直接加分！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2377440" cy="41148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微軟正黑體"/>
              </a:rPr>
              <a:t>單元導引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27432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000">
                <a:solidFill>
                  <a:srgbClr val="64748B"/>
                </a:solidFill>
                <a:latin typeface="微軟正黑體"/>
              </a:rPr>
              <a:t>進企四系4甲 ｜ 第 02 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E3A8A"/>
                </a:solidFill>
                <a:latin typeface="微軟正黑體"/>
              </a:rPr>
              <a:t>第 02 週單元學習核心目標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10728655" cy="3931920"/>
          </a:xfrm>
          <a:prstGeom prst="rect">
            <a:avLst/>
          </a:prstGeom>
          <a:noFill/>
        </p:spPr>
        <p:txBody>
          <a:bodyPr wrap="square" tIns="36576" bIns="36576" lIns="36576" rIns="36576">
            <a:spAutoFit/>
          </a:bodyPr>
          <a:lstStyle/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授課單元：企業模式與企業流程管理 (BPR) ｜ 建議時數：2 小時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章節對應：CH02 企業資源規劃概說 ｜ 授課班級：進修部 進企四系4甲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核心學習目標：掌握職能導向與流程導向之差異，體會企業流程再造 (BPR) 原則與三大商業循環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認證考試核心焦點：BPR 核心定義、核心流程 O2C/P2P、組織穀倉打破、水平整合思維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教學模式：前半段流程理論與實務架構精析 ➔ 後半段 Antigravity 實作演練與題庫評測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623560"/>
            <a:ext cx="10728655" cy="96012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73152" lIns="164592" rIns="164592"/>
          <a:lstStyle/>
          <a:p>
            <a:pPr algn="l"/>
            <a:r>
              <a:rPr sz="2800" b="1">
                <a:solidFill>
                  <a:srgbClr val="92400E"/>
                </a:solidFill>
                <a:latin typeface="微軟正黑體"/>
              </a:rPr>
              <a:t>💡 關鍵提點：每週扎實推進，考取 AI 賦能 ERP 或相關證照直接總成績特別加分！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2377440" cy="41148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微軟正黑體"/>
              </a:rPr>
              <a:t>教學節奏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27432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000">
                <a:solidFill>
                  <a:srgbClr val="64748B"/>
                </a:solidFill>
                <a:latin typeface="微軟正黑體"/>
              </a:rPr>
              <a:t>進企四系4甲 ｜ 第 02 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E3A8A"/>
                </a:solidFill>
                <a:latin typeface="微軟正黑體"/>
              </a:rPr>
              <a:t>本週 100 分鐘標準教學時間分配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10728655" cy="3931920"/>
          </a:xfrm>
          <a:prstGeom prst="rect">
            <a:avLst/>
          </a:prstGeom>
          <a:noFill/>
        </p:spPr>
        <p:txBody>
          <a:bodyPr wrap="square" tIns="36576" bIns="36576" lIns="36576" rIns="36576">
            <a:spAutoFit/>
          </a:bodyPr>
          <a:lstStyle/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00~15 分鐘：企業營運痛點破冰、情境案例與 AS-IS 現況審視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15~40 分鐘：ERP 模組運作架構、主檔資料欄位與單據流轉機制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40~50 分鐘：核心演算法推導、數學公式演算與防呆邏輯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50~85 分鐘：上機實戰！Antigravity 專案包代碼修改與 `verify.py` 驗收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85~100分鐘：證照高頻考題深度拆解與線上 5 題隨堂快測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623560"/>
            <a:ext cx="10728655" cy="96012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73152" lIns="164592" rIns="164592"/>
          <a:lstStyle/>
          <a:p>
            <a:pPr algn="l"/>
            <a:r>
              <a:rPr sz="2800" b="1">
                <a:solidFill>
                  <a:srgbClr val="92400E"/>
                </a:solidFill>
                <a:latin typeface="微軟正黑體"/>
              </a:rPr>
              <a:t>💡 關鍵提點：電腦教室一人一機，落實『動手做中學』核心理念！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2377440" cy="41148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微軟正黑體"/>
              </a:rPr>
              <a:t>痛點案例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27432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000">
                <a:solidFill>
                  <a:srgbClr val="64748B"/>
                </a:solidFill>
                <a:latin typeface="微軟正黑體"/>
              </a:rPr>
              <a:t>進企四系4甲 ｜ 第 02 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E3A8A"/>
                </a:solidFill>
                <a:latin typeface="微軟正黑體"/>
              </a:rPr>
              <a:t>【企業現場】企業模式與企業流程管理 (BPR)之典型營運困境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10728655" cy="3931920"/>
          </a:xfrm>
          <a:prstGeom prst="rect">
            <a:avLst/>
          </a:prstGeom>
          <a:noFill/>
        </p:spPr>
        <p:txBody>
          <a:bodyPr wrap="square" tIns="36576" bIns="36576" lIns="36576" rIns="36576">
            <a:spAutoFit/>
          </a:bodyPr>
          <a:lstStyle/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企業痛點核心情境：傳統企業以部門為中心（穀倉效應），各自為政；BPR 強調以『顧客價值』為起點重構端到端流程。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傳統無系統企業依賴人工用紙本、Excel 或通訊軟體跨部門溝通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資訊傳遞嚴重時差，各部門掌握的數據各不相同，造成多頭馬車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決策者每到月底需要召集各部門花費數天開會手工對帳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一旦關鍵經辦人員請假或離職，業務流程立刻陷入停擺危機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623560"/>
            <a:ext cx="10728655" cy="96012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73152" lIns="164592" rIns="164592"/>
          <a:lstStyle/>
          <a:p>
            <a:pPr algn="l"/>
            <a:r>
              <a:rPr sz="2800" b="1">
                <a:solidFill>
                  <a:srgbClr val="92400E"/>
                </a:solidFill>
                <a:latin typeface="微軟正黑體"/>
              </a:rPr>
              <a:t>💡 關鍵提點：探討痛點 (AS-IS) 才能真正理解系統設計的智慧與價值。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2377440" cy="41148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微軟正黑體"/>
              </a:rPr>
              <a:t>現況分析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27432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000">
                <a:solidFill>
                  <a:srgbClr val="64748B"/>
                </a:solidFill>
                <a:latin typeface="微軟正黑體"/>
              </a:rPr>
              <a:t>進企四系4甲 ｜ 第 02 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E3A8A"/>
                </a:solidFill>
                <a:latin typeface="微軟正黑體"/>
              </a:rPr>
              <a:t>AS-IS (現行作業模式) 之四大流程障礙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10728655" cy="3931920"/>
          </a:xfrm>
          <a:prstGeom prst="rect">
            <a:avLst/>
          </a:prstGeom>
          <a:noFill/>
        </p:spPr>
        <p:txBody>
          <a:bodyPr wrap="square" tIns="36576" bIns="36576" lIns="36576" rIns="36576">
            <a:spAutoFit/>
          </a:bodyPr>
          <a:lstStyle/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障礙 1【重工浪費】：同一筆資料在採購、倉儲、會計重複鍵入 3 次以上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障礙 2【時效延遲】：紙本單據跑簽核耗費數天，無法即時回應市場與客戶需求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障礙 3【黑箱作業】：無法即時追蹤單據卡在誰的桌上，互踢皮球責任不清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障礙 4【呆滯料積壓】：缺乏精準預測與批量計算，造成倉庫嚴重呆料占用資金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623560"/>
            <a:ext cx="10728655" cy="96012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73152" lIns="164592" rIns="164592"/>
          <a:lstStyle/>
          <a:p>
            <a:pPr algn="l"/>
            <a:r>
              <a:rPr sz="2800" b="1">
                <a:solidFill>
                  <a:srgbClr val="92400E"/>
                </a:solidFill>
                <a:latin typeface="微軟正黑體"/>
              </a:rPr>
              <a:t>💡 關鍵提點：企業流程再造 (BPR) 的第一步就是無情地排查出所有隱性浪費！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2377440" cy="41148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微軟正黑體"/>
              </a:rPr>
              <a:t>資料孤島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27432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000">
                <a:solidFill>
                  <a:srgbClr val="64748B"/>
                </a:solidFill>
                <a:latin typeface="微軟正黑體"/>
              </a:rPr>
              <a:t>進企四系4甲 ｜ 第 02 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E3A8A"/>
                </a:solidFill>
                <a:latin typeface="微軟正黑體"/>
              </a:rPr>
              <a:t>本單元涉及之跨部門溝通斷層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10728655" cy="3931920"/>
          </a:xfrm>
          <a:prstGeom prst="rect">
            <a:avLst/>
          </a:prstGeom>
          <a:noFill/>
        </p:spPr>
        <p:txBody>
          <a:bodyPr wrap="square" tIns="36576" bIns="36576" lIns="36576" rIns="36576">
            <a:spAutoFit/>
          </a:bodyPr>
          <a:lstStyle/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部門壁壘效應 (Silo Effect)：各部門主管只看局部利益，缺乏全域最佳化思維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前端業務為了業績拼命接急單，卻完全不知道後端工廠產能早已超載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採購為了爭取大批採購數量折扣，大量進貨導致倉庫爆倉與庫存成本暴增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財務最後拿著供應商發票與倉庫收料單對不上，付款延遲影響企業信用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623560"/>
            <a:ext cx="10728655" cy="96012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73152" lIns="164592" rIns="164592"/>
          <a:lstStyle/>
          <a:p>
            <a:pPr algn="l"/>
            <a:r>
              <a:rPr sz="2800" b="1">
                <a:solidFill>
                  <a:srgbClr val="92400E"/>
                </a:solidFill>
                <a:latin typeface="微軟正黑體"/>
              </a:rPr>
              <a:t>💡 關鍵提點：ERP 系統就是跨部門協同的唯一共同語言。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2377440" cy="41148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微軟正黑體"/>
              </a:rPr>
              <a:t>量化成本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27432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000">
                <a:solidFill>
                  <a:srgbClr val="64748B"/>
                </a:solidFill>
                <a:latin typeface="微軟正黑體"/>
              </a:rPr>
              <a:t>進企四系4甲 ｜ 第 02 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E3A8A"/>
                </a:solidFill>
                <a:latin typeface="微軟正黑體"/>
              </a:rPr>
              <a:t>傳統人工流程所造成的隱形成本量化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10728655" cy="3931920"/>
          </a:xfrm>
          <a:prstGeom prst="rect">
            <a:avLst/>
          </a:prstGeom>
          <a:noFill/>
        </p:spPr>
        <p:txBody>
          <a:bodyPr wrap="square" tIns="36576" bIns="36576" lIns="36576" rIns="36576">
            <a:spAutoFit/>
          </a:bodyPr>
          <a:lstStyle/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人工鍵入錯誤率：業界平均每處理 100 筆單據即有 3~5 筆打錯字或輸入錯欄位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更正成本：在發票開出後才發現單價錯誤，更正成本是事前防呆的 10 倍以上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延遲交貨罰款 (Liquidated Damages)：合約逾期罰款每日可達貨款的千分之一至千分之五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資金周轉天數 (CCC)：應收帳款與存貨周轉天數過長，導致營運資金嚴重卡死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623560"/>
            <a:ext cx="10728655" cy="96012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73152" lIns="164592" rIns="164592"/>
          <a:lstStyle/>
          <a:p>
            <a:pPr algn="l"/>
            <a:r>
              <a:rPr sz="2800" b="1">
                <a:solidFill>
                  <a:srgbClr val="92400E"/>
                </a:solidFill>
                <a:latin typeface="微軟正黑體"/>
              </a:rPr>
              <a:t>💡 關鍵提點：ERP 的投資回報率 (ROI) 往往來自於消除這些龐大的隱性浪費！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2377440" cy="41148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微軟正黑體"/>
              </a:rPr>
              <a:t>案例對照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27432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000">
                <a:solidFill>
                  <a:srgbClr val="64748B"/>
                </a:solidFill>
                <a:latin typeface="微軟正黑體"/>
              </a:rPr>
              <a:t>進企四系4甲 ｜ 第 02 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E3A8A"/>
                </a:solidFill>
                <a:latin typeface="微軟正黑體"/>
              </a:rPr>
              <a:t>標竿企業 vs 落後企業之營運指標差距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10728655" cy="3931920"/>
          </a:xfrm>
          <a:prstGeom prst="rect">
            <a:avLst/>
          </a:prstGeom>
          <a:noFill/>
        </p:spPr>
        <p:txBody>
          <a:bodyPr wrap="square" tIns="36576" bIns="36576" lIns="36576" rIns="36576">
            <a:spAutoFit/>
          </a:bodyPr>
          <a:lstStyle/>
          <a:p>
            <a:pPr>
              <a:spcBef>
                <a:spcPts val="100"/>
              </a:spcBef>
              <a:spcAft>
                <a:spcPts val="8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標竿企業 (導入 ERP + AI)：</a:t>
            </a:r>
          </a:p>
          <a:p>
            <a:pPr>
              <a:spcBef>
                <a:spcPts val="100"/>
              </a:spcBef>
              <a:spcAft>
                <a:spcPts val="8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• 訂單處理時間由 3 天縮短為 5 分鐘，即時系統自檢出庫</a:t>
            </a:r>
          </a:p>
          <a:p>
            <a:pPr>
              <a:spcBef>
                <a:spcPts val="100"/>
              </a:spcBef>
              <a:spcAft>
                <a:spcPts val="8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• 庫存周轉率提升 30%，存貨資金佔比維持在安全低水位</a:t>
            </a:r>
          </a:p>
          <a:p>
            <a:pPr>
              <a:spcBef>
                <a:spcPts val="100"/>
              </a:spcBef>
              <a:spcAft>
                <a:spcPts val="8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落後企業 (純人工紙本)：</a:t>
            </a:r>
          </a:p>
          <a:p>
            <a:pPr>
              <a:spcBef>
                <a:spcPts val="100"/>
              </a:spcBef>
              <a:spcAft>
                <a:spcPts val="8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• 查個庫存要打三通電話給不同倉庫，客戶等不耐煩轉單走人</a:t>
            </a:r>
          </a:p>
          <a:p>
            <a:pPr>
              <a:spcBef>
                <a:spcPts val="100"/>
              </a:spcBef>
              <a:spcAft>
                <a:spcPts val="8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• 月底結帳需要 15 天以上才能產出損益表，錯失市場應變良機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623560"/>
            <a:ext cx="10728655" cy="96012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73152" lIns="164592" rIns="164592"/>
          <a:lstStyle/>
          <a:p>
            <a:pPr algn="l"/>
            <a:r>
              <a:rPr sz="2800" b="1">
                <a:solidFill>
                  <a:srgbClr val="92400E"/>
                </a:solidFill>
                <a:latin typeface="微軟正黑體"/>
              </a:rPr>
              <a:t>💡 關鍵提點：數位轉型不是要不要的問題，而是企業生死存亡的生存之戰。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2377440" cy="41148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微軟正黑體"/>
              </a:rPr>
              <a:t>轉型契機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27432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000">
                <a:solidFill>
                  <a:srgbClr val="64748B"/>
                </a:solidFill>
                <a:latin typeface="微軟正黑體"/>
              </a:rPr>
              <a:t>進企四系4甲 ｜ 第 02 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E3A8A"/>
                </a:solidFill>
                <a:latin typeface="微軟正黑體"/>
              </a:rPr>
              <a:t>BPR 流程再造：從職能導向走向流程導向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10728655" cy="3931920"/>
          </a:xfrm>
          <a:prstGeom prst="rect">
            <a:avLst/>
          </a:prstGeom>
          <a:noFill/>
        </p:spPr>
        <p:txBody>
          <a:bodyPr wrap="square" tIns="36576" bIns="36576" lIns="36576" rIns="36576">
            <a:spAutoFit/>
          </a:bodyPr>
          <a:lstStyle/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傳統組織架構：金字塔型職能導向 (Functional-oriented)，各部門向上級匯報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現代 ERP 組織：扁平化流程導向 (Process-oriented)，一切以創造顧客價值為中心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流程打破了部門界線，員工不再只是『管倉庫的』，而是『訂單履行流程的負責人』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透過 ERP 系統透明化，將權限下放給第一線員工，實現敏捷反應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623560"/>
            <a:ext cx="10728655" cy="96012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73152" lIns="164592" rIns="164592"/>
          <a:lstStyle/>
          <a:p>
            <a:pPr algn="l"/>
            <a:r>
              <a:rPr sz="2800" b="1">
                <a:solidFill>
                  <a:srgbClr val="92400E"/>
                </a:solidFill>
                <a:latin typeface="微軟正黑體"/>
              </a:rPr>
              <a:t>💡 關鍵提點：組織架構跟著流程走，是 BPR 流程再造的核心精髓！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2377440" cy="41148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微軟正黑體"/>
              </a:rPr>
              <a:t>TO-BE 藍圖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27432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000">
                <a:solidFill>
                  <a:srgbClr val="64748B"/>
                </a:solidFill>
                <a:latin typeface="微軟正黑體"/>
              </a:rPr>
              <a:t>進企四系4甲 ｜ 第 02 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E3A8A"/>
                </a:solidFill>
                <a:latin typeface="微軟正黑體"/>
              </a:rPr>
              <a:t>【流程重構】企業模式與企業流程管理 (BPR)之 TO-BE 最佳實務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10728655" cy="3931920"/>
          </a:xfrm>
          <a:prstGeom prst="rect">
            <a:avLst/>
          </a:prstGeom>
          <a:noFill/>
        </p:spPr>
        <p:txBody>
          <a:bodyPr wrap="square" tIns="36576" bIns="36576" lIns="36576" rIns="36576">
            <a:spAutoFit/>
          </a:bodyPr>
          <a:lstStyle/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TO-BE 流程核心原則：消除非增值活動 (Non-value-added activities)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資料單一源頭鍵入 (Single Entry)：在源頭建立主檔後，後續單據自動繼承關聯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線上即時勾稽驗證：單據在儲存瞬間由系統自動檢核信用、庫存與合規性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異常管理 (Management by Exception)：正常流程全自動放行，僅有異常案件才呈報主管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大幅縮短端到端流程週期 (Cycle Time) 達 80% 以上！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623560"/>
            <a:ext cx="10728655" cy="96012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73152" lIns="164592" rIns="164592"/>
          <a:lstStyle/>
          <a:p>
            <a:pPr algn="l"/>
            <a:r>
              <a:rPr sz="2800" b="1">
                <a:solidFill>
                  <a:srgbClr val="92400E"/>
                </a:solidFill>
                <a:latin typeface="微軟正黑體"/>
              </a:rPr>
              <a:t>💡 關鍵提點：最佳實務 (Best Practice) 是全球數萬家成功企業經驗的智慧結晶。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2377440" cy="41148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微軟正黑體"/>
              </a:rPr>
              <a:t>三大循環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27432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000">
                <a:solidFill>
                  <a:srgbClr val="64748B"/>
                </a:solidFill>
                <a:latin typeface="微軟正黑體"/>
              </a:rPr>
              <a:t>進企四系4甲 ｜ 第 02 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E3A8A"/>
                </a:solidFill>
                <a:latin typeface="微軟正黑體"/>
              </a:rPr>
              <a:t>本模組在企業三大核心商業循環中之定位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10728655" cy="3931920"/>
          </a:xfrm>
          <a:prstGeom prst="rect">
            <a:avLst/>
          </a:prstGeom>
          <a:noFill/>
        </p:spPr>
        <p:txBody>
          <a:bodyPr wrap="square" tIns="36576" bIns="36576" lIns="36576" rIns="36576">
            <a:spAutoFit/>
          </a:bodyPr>
          <a:lstStyle/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三大循環一【銷售循環 (Order-to-Cash, O2C)】：報價 ➔ 接單 ➔ 出貨 ➔ 應收收款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三大循環二【採購循環 (Procure-to-Pay, P2P)】：請購 ➔ 採購 ➔ 收料 ➔ 應付付款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三大循環三【生產循環 (Plan-to-Produce, P2P)】：主排程 ➔ MRP ➔ 工單 ➔ 完工入庫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本單元重點貫穿上述循環之關鍵節點，確保三流無縫銜接不中斷！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623560"/>
            <a:ext cx="10728655" cy="96012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73152" lIns="164592" rIns="164592"/>
          <a:lstStyle/>
          <a:p>
            <a:pPr algn="l"/>
            <a:r>
              <a:rPr sz="2800" b="1">
                <a:solidFill>
                  <a:srgbClr val="92400E"/>
                </a:solidFill>
                <a:latin typeface="微軟正黑體"/>
              </a:rPr>
              <a:t>💡 關鍵提點：三大循環相互驅動，如同企業營運大腦的三大齒輪。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2377440" cy="41148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微軟正黑體"/>
              </a:rPr>
              <a:t>流程標準化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27432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000">
                <a:solidFill>
                  <a:srgbClr val="64748B"/>
                </a:solidFill>
                <a:latin typeface="微軟正黑體"/>
              </a:rPr>
              <a:t>進企四系4甲 ｜ 第 02 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E3A8A"/>
                </a:solidFill>
                <a:latin typeface="微軟正黑體"/>
              </a:rPr>
              <a:t>標準作業程序 (SOP) 與系統強制防呆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10728655" cy="3931920"/>
          </a:xfrm>
          <a:prstGeom prst="rect">
            <a:avLst/>
          </a:prstGeom>
          <a:noFill/>
        </p:spPr>
        <p:txBody>
          <a:bodyPr wrap="square" tIns="36576" bIns="36576" lIns="36576" rIns="36576">
            <a:spAutoFit/>
          </a:bodyPr>
          <a:lstStyle/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建立 SOP 是一回事，員工會不會遵守是另一回事；ERP 則具備『強制防呆機制』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若未輸入必要欄位 (如稅別、交期、付款條件)，系統直接鎖定不允許存檔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若單價低於成本底限，系統自動彈出警示並強制觸發主管特批流程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防止人為疏漏於未然，將人性的弱點透過軟體機制加以規範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623560"/>
            <a:ext cx="10728655" cy="96012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73152" lIns="164592" rIns="164592"/>
          <a:lstStyle/>
          <a:p>
            <a:pPr algn="l"/>
            <a:r>
              <a:rPr sz="2800" b="1">
                <a:solidFill>
                  <a:srgbClr val="92400E"/>
                </a:solidFill>
                <a:latin typeface="微軟正黑體"/>
              </a:rPr>
              <a:t>💡 關鍵提點：嚴密的防呆設計是企業資訊治理的第一道防線。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2377440" cy="41148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微軟正黑體"/>
              </a:rPr>
              <a:t>系統整合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27432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000">
                <a:solidFill>
                  <a:srgbClr val="64748B"/>
                </a:solidFill>
                <a:latin typeface="微軟正黑體"/>
              </a:rPr>
              <a:t>進企四系4甲 ｜ 第 02 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E3A8A"/>
                </a:solidFill>
                <a:latin typeface="微軟正黑體"/>
              </a:rPr>
              <a:t>跨模組即時觸發 (Trigger) 機制解析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10728655" cy="3931920"/>
          </a:xfrm>
          <a:prstGeom prst="rect">
            <a:avLst/>
          </a:prstGeom>
          <a:noFill/>
        </p:spPr>
        <p:txBody>
          <a:bodyPr wrap="square" tIns="36576" bIns="36576" lIns="36576" rIns="36576">
            <a:spAutoFit/>
          </a:bodyPr>
          <a:lstStyle/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事件驅動架構 (Event-Driven Architecture)：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• 觸發事件 A：倉庫人員在系統執行『發料過帳 (Goods Issue)』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• 即時連動 B：庫存模組 (MM) 原料數量立刻扣減，更新最新現存量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• 即時連動 C：生產模組 (PP) 工單狀態由『已發料』轉為『生產中』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• 即時連動 D：會計模組 (FI) 自動產出【借：在製品成本 / 貸：原料存貨】會計傳票！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623560"/>
            <a:ext cx="10728655" cy="96012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73152" lIns="164592" rIns="164592"/>
          <a:lstStyle/>
          <a:p>
            <a:pPr algn="l"/>
            <a:r>
              <a:rPr sz="2800" b="1">
                <a:solidFill>
                  <a:srgbClr val="92400E"/>
                </a:solidFill>
                <a:latin typeface="微軟正黑體"/>
              </a:rPr>
              <a:t>💡 關鍵提點：一動全動，跨模組零時差連動，這就是 ERP 最迷人之處！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2377440" cy="41148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微軟正黑體"/>
              </a:rPr>
              <a:t>自動化演進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27432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000">
                <a:solidFill>
                  <a:srgbClr val="64748B"/>
                </a:solidFill>
                <a:latin typeface="微軟正黑體"/>
              </a:rPr>
              <a:t>進企四系4甲 ｜ 第 02 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E3A8A"/>
                </a:solidFill>
                <a:latin typeface="微軟正黑體"/>
              </a:rPr>
              <a:t>從 RPA 機器人到 Agentic AI 的流程躍升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10728655" cy="3931920"/>
          </a:xfrm>
          <a:prstGeom prst="rect">
            <a:avLst/>
          </a:prstGeom>
          <a:noFill/>
        </p:spPr>
        <p:txBody>
          <a:bodyPr wrap="square" tIns="36576" bIns="36576" lIns="36576" rIns="36576">
            <a:spAutoFit/>
          </a:bodyPr>
          <a:lstStyle/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傳統 RPA (機器人流程自動化)：只能依照死板的規則點選固定按鈕，網頁稍微改版就掛掉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現代 Agentic AI 流程：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• 具備多模態理解能力，能看懂掃描版 PDF、手寫發票或 LINE 圖片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• 具備自主推論能力，能根據上下文推導缺失欄位並調用 ERP API 驗證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• 遇到模糊不明情況，主動提出澄清問題請求人類主管介入確認 (Human-in-the-Loop)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623560"/>
            <a:ext cx="10728655" cy="96012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73152" lIns="164592" rIns="164592"/>
          <a:lstStyle/>
          <a:p>
            <a:pPr algn="l"/>
            <a:r>
              <a:rPr sz="2800" b="1">
                <a:solidFill>
                  <a:srgbClr val="92400E"/>
                </a:solidFill>
                <a:latin typeface="微軟正黑體"/>
              </a:rPr>
              <a:t>💡 關鍵提點：流程自動化正式進入具備認知推論的 AI Agent 時代！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2377440" cy="41148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微軟正黑體"/>
              </a:rPr>
              <a:t>效益評估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27432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000">
                <a:solidFill>
                  <a:srgbClr val="64748B"/>
                </a:solidFill>
                <a:latin typeface="微軟正黑體"/>
              </a:rPr>
              <a:t>進企四系4甲 ｜ 第 02 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E3A8A"/>
                </a:solidFill>
                <a:latin typeface="微軟正黑體"/>
              </a:rPr>
              <a:t>重構後的 KPI 改善指標量測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10728655" cy="3931920"/>
          </a:xfrm>
          <a:prstGeom prst="rect">
            <a:avLst/>
          </a:prstGeom>
          <a:noFill/>
        </p:spPr>
        <p:txBody>
          <a:bodyPr wrap="square" tIns="36576" bIns="36576" lIns="36576" rIns="36576">
            <a:spAutoFit/>
          </a:bodyPr>
          <a:lstStyle/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訂單履約率 (On-Time In-Full, OTIF)：由原本 75% 大幅躍升至 95% 以上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發票比對週期：由過去平均 5 天縮短為系統 3 秒鐘自動核銷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盤點準確率 (Inventory Accuracy)：提升至 99.5%，庫存帳料完全相符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月結報表產出天數：由原本次月 15 號提早至次月第 2 個工作天產出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623560"/>
            <a:ext cx="10728655" cy="96012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73152" lIns="164592" rIns="164592"/>
          <a:lstStyle/>
          <a:p>
            <a:pPr algn="l"/>
            <a:r>
              <a:rPr sz="2800" b="1">
                <a:solidFill>
                  <a:srgbClr val="92400E"/>
                </a:solidFill>
                <a:latin typeface="微軟正黑體"/>
              </a:rPr>
              <a:t>💡 關鍵提點：量化指標是向董事會與高階主管證明 ERP 與 AI 價值的最佳利器。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2377440" cy="41148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微軟正黑體"/>
              </a:rPr>
              <a:t>模組核心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27432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000">
                <a:solidFill>
                  <a:srgbClr val="64748B"/>
                </a:solidFill>
                <a:latin typeface="微軟正黑體"/>
              </a:rPr>
              <a:t>進企四系4甲 ｜ 第 02 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E3A8A"/>
                </a:solidFill>
                <a:latin typeface="微軟正黑體"/>
              </a:rPr>
              <a:t>【架構剖析】企業模式與企業流程管理 (BPR)的核心模組功能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10728655" cy="3931920"/>
          </a:xfrm>
          <a:prstGeom prst="rect">
            <a:avLst/>
          </a:prstGeom>
          <a:noFill/>
        </p:spPr>
        <p:txBody>
          <a:bodyPr wrap="square" tIns="36576" bIns="36576" lIns="36576" rIns="36576">
            <a:spAutoFit/>
          </a:bodyPr>
          <a:lstStyle/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核心功能定位：落實掌握職能導向與流程導向之差異，體會企業流程再造 (BPR) 原則與三大商業循環之核心作業標準化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模組具備高度參數化配置彈性，能適應製造業、零售業、科技業等不同產業特性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支援多組織、多工廠、多倉庫與多幣別跨國集團營運架構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模組與其他 ERP 模組保持緊密耦合與資料即時交換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623560"/>
            <a:ext cx="10728655" cy="96012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73152" lIns="164592" rIns="164592"/>
          <a:lstStyle/>
          <a:p>
            <a:pPr algn="l"/>
            <a:r>
              <a:rPr sz="2800" b="1">
                <a:solidFill>
                  <a:srgbClr val="92400E"/>
                </a:solidFill>
                <a:latin typeface="微軟正黑體"/>
              </a:rPr>
              <a:t>💡 關鍵提點：扎實的模組架構是企業持續擴張的數位骨幹。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2377440" cy="41148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微軟正黑體"/>
              </a:rPr>
              <a:t>主檔資料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27432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000">
                <a:solidFill>
                  <a:srgbClr val="64748B"/>
                </a:solidFill>
                <a:latin typeface="微軟正黑體"/>
              </a:rPr>
              <a:t>進企四系4甲 ｜ 第 02 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E3A8A"/>
                </a:solidFill>
                <a:latin typeface="微軟正黑體"/>
              </a:rPr>
              <a:t>主檔資料 (Master Data) vs 交易資料 (Transaction Data)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10728655" cy="3931920"/>
          </a:xfrm>
          <a:prstGeom prst="rect">
            <a:avLst/>
          </a:prstGeom>
          <a:noFill/>
        </p:spPr>
        <p:txBody>
          <a:bodyPr wrap="square" tIns="36576" bIns="36576" lIns="36576" rIns="36576">
            <a:spAutoFit/>
          </a:bodyPr>
          <a:lstStyle/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主檔資料 (Master Data)：長時間維持穩定不變的靜態基礎資料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• 例如：客戶主檔 (客戶代號、統編、送貨地址)、物料主檔、供應商主檔、BOM 表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交易資料 (Transaction Data)：日常營運所產生的高度動態單據資料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• 例如：銷貨訂單、採購單、領料單、會計傳票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黃金法則：交易資料一定是『關聯並繼承』主檔資料的欄位而生！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623560"/>
            <a:ext cx="10728655" cy="96012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73152" lIns="164592" rIns="164592"/>
          <a:lstStyle/>
          <a:p>
            <a:pPr algn="l"/>
            <a:r>
              <a:rPr sz="2800" b="1">
                <a:solidFill>
                  <a:srgbClr val="92400E"/>
                </a:solidFill>
                <a:latin typeface="微軟正黑體"/>
              </a:rPr>
              <a:t>💡 關鍵提點：檢定常考：客戶主檔與物料主檔屬於靜態的主檔資料！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2377440" cy="41148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微軟正黑體"/>
              </a:rPr>
              <a:t>實體設計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27432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000">
                <a:solidFill>
                  <a:srgbClr val="64748B"/>
                </a:solidFill>
                <a:latin typeface="微軟正黑體"/>
              </a:rPr>
              <a:t>進企四系4甲 ｜ 第 02 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E3A8A"/>
                </a:solidFill>
                <a:latin typeface="微軟正黑體"/>
              </a:rPr>
              <a:t>核心實體資料庫表格欄位設計解析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10728655" cy="3931920"/>
          </a:xfrm>
          <a:prstGeom prst="rect">
            <a:avLst/>
          </a:prstGeom>
          <a:noFill/>
        </p:spPr>
        <p:txBody>
          <a:bodyPr wrap="square" tIns="36576" bIns="36576" lIns="36576" rIns="36576">
            <a:spAutoFit/>
          </a:bodyPr>
          <a:lstStyle/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主檔關鍵欄位 (Primary Key)：唯一識別碼 (如 `Item_ID`, `Customer_ID`)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屬性欄位 (Attributes)：名稱、規格描述、基本計量單位 (UOM)、稅別碼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控制欄位 (Control Parameters)：安全存量、採購前置期 (Lead Time)、信用額度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外來鍵關聯 (Foreign Key)：關聯至預設倉庫代碼、預設會計科目代碼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623560"/>
            <a:ext cx="10728655" cy="96012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73152" lIns="164592" rIns="164592"/>
          <a:lstStyle/>
          <a:p>
            <a:pPr algn="l"/>
            <a:r>
              <a:rPr sz="2800" b="1">
                <a:solidFill>
                  <a:srgbClr val="92400E"/>
                </a:solidFill>
                <a:latin typeface="微軟正黑體"/>
              </a:rPr>
              <a:t>💡 關鍵提點：良好的資料庫關聯模型是防呆與報表查詢效能的基礎。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2377440" cy="41148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微軟正黑體"/>
              </a:rPr>
              <a:t>單據流轉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27432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000">
                <a:solidFill>
                  <a:srgbClr val="64748B"/>
                </a:solidFill>
                <a:latin typeface="微軟正黑體"/>
              </a:rPr>
              <a:t>進企四系4甲 ｜ 第 02 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E3A8A"/>
                </a:solidFill>
                <a:latin typeface="微軟正黑體"/>
              </a:rPr>
              <a:t>完整單據流 (Document Flow) 與單據追蹤鏈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10728655" cy="3931920"/>
          </a:xfrm>
          <a:prstGeom prst="rect">
            <a:avLst/>
          </a:prstGeom>
          <a:noFill/>
        </p:spPr>
        <p:txBody>
          <a:bodyPr wrap="square" tIns="36576" bIns="36576" lIns="36576" rIns="36576">
            <a:spAutoFit/>
          </a:bodyPr>
          <a:lstStyle/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單據流是指一筆業務從發生到結案所產生的所有關聯單據鏈 (Document Chain)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正向流轉：報價單 (Quotation) ➔ 銷售訂單 (Sales Order) ➔ 交貨單 (Delivery) ➔ 應收發票 (Billing)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雙向追溯性 (Traceability)：在任何一張發票上，點擊按鈕即可向上查看對應的原始訂單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狀態驅動：每一張單據都有專屬的狀態欄位 (如：草稿、待審、已核准、已出貨、已結案)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623560"/>
            <a:ext cx="10728655" cy="96012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73152" lIns="164592" rIns="164592"/>
          <a:lstStyle/>
          <a:p>
            <a:pPr algn="l"/>
            <a:r>
              <a:rPr sz="2800" b="1">
                <a:solidFill>
                  <a:srgbClr val="92400E"/>
                </a:solidFill>
                <a:latin typeface="微軟正黑體"/>
              </a:rPr>
              <a:t>💡 關鍵提點：單據流保證了企業稽核時具備完整不可否認之軌跡紀錄。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2377440" cy="41148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微軟正黑體"/>
              </a:rPr>
              <a:t>組織架構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27432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000">
                <a:solidFill>
                  <a:srgbClr val="64748B"/>
                </a:solidFill>
                <a:latin typeface="微軟正黑體"/>
              </a:rPr>
              <a:t>進企四系4甲 ｜ 第 02 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E3A8A"/>
                </a:solidFill>
                <a:latin typeface="微軟正黑體"/>
              </a:rPr>
              <a:t>ERP 系統中的組織架構層級 (Organizational Structure)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10728655" cy="3931920"/>
          </a:xfrm>
          <a:prstGeom prst="rect">
            <a:avLst/>
          </a:prstGeom>
          <a:noFill/>
        </p:spPr>
        <p:txBody>
          <a:bodyPr wrap="square" tIns="36576" bIns="36576" lIns="36576" rIns="36576">
            <a:spAutoFit/>
          </a:bodyPr>
          <a:lstStyle/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最高層級【集團企業 (Client)】：整套系統的最高合法商業實體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法定層級【公司代碼 (Company Code)】：具備獨立資產負債表與法定損益表的獨立法人公司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營運層級【工廠 / 營業所 (Plant / Sales Org)】：實際從事生產製造或銷售業務的實體據點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實體層級【倉庫儲位 (Storage Location)】：實際存放原物料與成品的貨架空間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623560"/>
            <a:ext cx="10728655" cy="96012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73152" lIns="164592" rIns="164592"/>
          <a:lstStyle/>
          <a:p>
            <a:pPr algn="l"/>
            <a:r>
              <a:rPr sz="2800" b="1">
                <a:solidFill>
                  <a:srgbClr val="92400E"/>
                </a:solidFill>
                <a:latin typeface="微軟正黑體"/>
              </a:rPr>
              <a:t>💡 關鍵提點：嚴謹的組織層級是跨國多公司財務合併報表的基石。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2377440" cy="41148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微軟正黑體"/>
              </a:rPr>
              <a:t>資料完整性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27432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000">
                <a:solidFill>
                  <a:srgbClr val="64748B"/>
                </a:solidFill>
                <a:latin typeface="微軟正黑體"/>
              </a:rPr>
              <a:t>進企四系4甲 ｜ 第 02 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E3A8A"/>
                </a:solidFill>
                <a:latin typeface="微軟正黑體"/>
              </a:rPr>
              <a:t>Garbage In, Garbage Out (GIGO) 原則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10728655" cy="3931920"/>
          </a:xfrm>
          <a:prstGeom prst="rect">
            <a:avLst/>
          </a:prstGeom>
          <a:noFill/>
        </p:spPr>
        <p:txBody>
          <a:bodyPr wrap="square" tIns="36576" bIns="36576" lIns="36576" rIns="36576">
            <a:spAutoFit/>
          </a:bodyPr>
          <a:lstStyle/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如果主檔資料輸入垃圾，ERP 系統產出的所有報表與建議就是更大的垃圾！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常見資料髒污：客戶地址缺字導致物流送錯、物料安全存量亂設導致狂爆存貨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企業導入 ERP 成功關鍵：務必在系統上線前投入大量精力進行『主檔資料清洗 (Data Cleansing)』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落實一物一料號原則，嚴防一物多號造成庫存重覆採購！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623560"/>
            <a:ext cx="10728655" cy="96012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73152" lIns="164592" rIns="164592"/>
          <a:lstStyle/>
          <a:p>
            <a:pPr algn="l"/>
            <a:r>
              <a:rPr sz="2800" b="1">
                <a:solidFill>
                  <a:srgbClr val="92400E"/>
                </a:solidFill>
                <a:latin typeface="微軟正黑體"/>
              </a:rPr>
              <a:t>💡 關鍵提點：資料清理是 ERP 專案中最辛苦卻也最關鍵的一環。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2377440" cy="41148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微軟正黑體"/>
              </a:rPr>
              <a:t>會計整合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27432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000">
                <a:solidFill>
                  <a:srgbClr val="64748B"/>
                </a:solidFill>
                <a:latin typeface="微軟正黑體"/>
              </a:rPr>
              <a:t>進企四系4甲 ｜ 第 02 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E3A8A"/>
                </a:solidFill>
                <a:latin typeface="微軟正黑體"/>
              </a:rPr>
              <a:t>業務事件如何自動轉化為會計分錄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10728655" cy="3931920"/>
          </a:xfrm>
          <a:prstGeom prst="rect">
            <a:avLst/>
          </a:prstGeom>
          <a:noFill/>
        </p:spPr>
        <p:txBody>
          <a:bodyPr wrap="square" tIns="36576" bIns="36576" lIns="36576" rIns="36576">
            <a:spAutoFit/>
          </a:bodyPr>
          <a:lstStyle/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自動化會計科目判定 (Automatic Account Determination)：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• 系統預先在後台設定好『物料群組』與『會計科目』的對應對照表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• 當業務端按下出貨，系統依物料類別自動找到對應的銷貨成本科目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業務員不用懂借貸分錄，只需專注完成出貨點收，系統自動產出合規分錄！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會計人員的工作從『事後登打傳票』轉變為『事前稽核與營運財務分析』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623560"/>
            <a:ext cx="10728655" cy="96012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73152" lIns="164592" rIns="164592"/>
          <a:lstStyle/>
          <a:p>
            <a:pPr algn="l"/>
            <a:r>
              <a:rPr sz="2800" b="1">
                <a:solidFill>
                  <a:srgbClr val="92400E"/>
                </a:solidFill>
                <a:latin typeface="微軟正黑體"/>
              </a:rPr>
              <a:t>💡 關鍵提點：會計無感自動化，正是 ERP 連接業務與財務的神經網絡。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2377440" cy="41148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微軟正黑體"/>
              </a:rPr>
              <a:t>資料生命週期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27432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000">
                <a:solidFill>
                  <a:srgbClr val="64748B"/>
                </a:solidFill>
                <a:latin typeface="微軟正黑體"/>
              </a:rPr>
              <a:t>進企四系4甲 ｜ 第 02 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E3A8A"/>
                </a:solidFill>
                <a:latin typeface="微軟正黑體"/>
              </a:rPr>
              <a:t>單據資料的生命週期管理 (CRUD 與封存)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10728655" cy="3931920"/>
          </a:xfrm>
          <a:prstGeom prst="rect">
            <a:avLst/>
          </a:prstGeom>
          <a:noFill/>
        </p:spPr>
        <p:txBody>
          <a:bodyPr wrap="square" tIns="36576" bIns="36576" lIns="36576" rIns="36576">
            <a:spAutoFit/>
          </a:bodyPr>
          <a:lstStyle/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建立 (Create) ➔ 審核 (Review) ➔ 過帳生效 (Post) ➔ 結案 (Close) ➔ 歷史封存 (Archive)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嚴格禁止任意物理刪除 (Hard Delete)：一旦單據過帳，系統絕對不允許直接 DELETE 資料庫！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更正必須透過『反沖紅字沖銷 (Reverse / Storno)』留下完整修正軌跡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確保符合國際會計準則與稅務稽核法規要求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623560"/>
            <a:ext cx="10728655" cy="96012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73152" lIns="164592" rIns="164592"/>
          <a:lstStyle/>
          <a:p>
            <a:pPr algn="l"/>
            <a:r>
              <a:rPr sz="2800" b="1">
                <a:solidFill>
                  <a:srgbClr val="92400E"/>
                </a:solidFill>
                <a:latin typeface="微軟正黑體"/>
              </a:rPr>
              <a:t>💡 關鍵提點：不可抹滅的軌跡是企業信任與公司治理的基本要求。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2377440" cy="41148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微軟正黑體"/>
              </a:rPr>
              <a:t>演算法剖析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27432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000">
                <a:solidFill>
                  <a:srgbClr val="64748B"/>
                </a:solidFill>
                <a:latin typeface="微軟正黑體"/>
              </a:rPr>
              <a:t>進企四系4甲 ｜ 第 02 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E3A8A"/>
                </a:solidFill>
                <a:latin typeface="微軟正黑體"/>
              </a:rPr>
              <a:t>【運算核心】企業模式與企業流程管理 (BPR)關鍵演算法原理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10728655" cy="3931920"/>
          </a:xfrm>
          <a:prstGeom prst="rect">
            <a:avLst/>
          </a:prstGeom>
          <a:noFill/>
        </p:spPr>
        <p:txBody>
          <a:bodyPr wrap="square" tIns="36576" bIns="36576" lIns="36576" rIns="36576">
            <a:spAutoFit/>
          </a:bodyPr>
          <a:lstStyle/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運算演算法旨在解決企業在『掌握職能導向與流程導向之差異，體會企業流程再造 (BPR) 原則與三大商業循環』時的決策最佳化問題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依據即時數據進行動態試算，取代傳統人工拍腦袋與經驗盲猜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兼顧客戶服務水準 (Service Level) 與企業營運成本之平衡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本週 Antigravity 實作專案就是將此核心演算法轉化為 Python 程式邏輯！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623560"/>
            <a:ext cx="10728655" cy="96012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73152" lIns="164592" rIns="164592"/>
          <a:lstStyle/>
          <a:p>
            <a:pPr algn="l"/>
            <a:r>
              <a:rPr sz="2800" b="1">
                <a:solidFill>
                  <a:srgbClr val="92400E"/>
                </a:solidFill>
                <a:latin typeface="微軟正黑體"/>
              </a:rPr>
              <a:t>💡 關鍵提點：數學公式背後體現的是企業營運的商業智慧。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2377440" cy="41148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微軟正黑體"/>
              </a:rPr>
              <a:t>數學算式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27432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000">
                <a:solidFill>
                  <a:srgbClr val="64748B"/>
                </a:solidFill>
                <a:latin typeface="微軟正黑體"/>
              </a:rPr>
              <a:t>進企四系4甲 ｜ 第 02 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E3A8A"/>
                </a:solidFill>
                <a:latin typeface="微軟正黑體"/>
              </a:rPr>
              <a:t>關鍵試算公式與變數定義拆解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10728655" cy="3931920"/>
          </a:xfrm>
          <a:prstGeom prst="rect">
            <a:avLst/>
          </a:prstGeom>
          <a:noFill/>
        </p:spPr>
        <p:txBody>
          <a:bodyPr wrap="square" tIns="36576" bIns="36576" lIns="36576" rIns="36576">
            <a:spAutoFit/>
          </a:bodyPr>
          <a:lstStyle/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核心計算邏輯公式：請深入理解本單元之數值變數關係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自變數包含：現有存量 (On-Hand)、預計入庫量 (Scheduled Receipts)、已分配量 (Allocated)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因變數輸出：最終可承諾量、淨需求量或最佳採購批量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邊界條件防護：計算結果若為負數必須自動歸零或觸發預警補貨通知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623560"/>
            <a:ext cx="10728655" cy="96012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73152" lIns="164592" rIns="164592"/>
          <a:lstStyle/>
          <a:p>
            <a:pPr algn="l"/>
            <a:r>
              <a:rPr sz="2800" b="1">
                <a:solidFill>
                  <a:srgbClr val="92400E"/>
                </a:solidFill>
                <a:latin typeface="微軟正黑體"/>
              </a:rPr>
              <a:t>💡 關鍵提點：公式不難，關鍵在於搞懂每一個變數所代表的實體意義。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2377440" cy="41148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微軟正黑體"/>
              </a:rPr>
              <a:t>實例演算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27432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000">
                <a:solidFill>
                  <a:srgbClr val="64748B"/>
                </a:solidFill>
                <a:latin typeface="微軟正黑體"/>
              </a:rPr>
              <a:t>進企四系4甲 ｜ 第 02 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E3A8A"/>
                </a:solidFill>
                <a:latin typeface="微軟正黑體"/>
              </a:rPr>
              <a:t>企業情境數值逐步手算推演範例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10728655" cy="3931920"/>
          </a:xfrm>
          <a:prstGeom prst="rect">
            <a:avLst/>
          </a:prstGeom>
          <a:noFill/>
        </p:spPr>
        <p:txBody>
          <a:bodyPr wrap="square" tIns="36576" bIns="36576" lIns="36576" rIns="36576">
            <a:spAutoFit/>
          </a:bodyPr>
          <a:lstStyle/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情境假設：期初庫存 50 件，本週預計到貨 30 件，現有已確認訂單需求 40 件，安全存量設為 10 件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步驟 1：計算總可用資產 ＝ 50 ＋ 30 ＝ 80 件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步驟 2：扣除必要保障量 ＝ 80 － 10 (安全存量) ＝ 70 件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步驟 3：扣除已承諾未交訂單 ＝ 70 － 40 ＝ 30 件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結論：此時若有新客戶詢價，系統最多只能承諾交運 30 件！多一筆都算超賣！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623560"/>
            <a:ext cx="10728655" cy="96012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73152" lIns="164592" rIns="164592"/>
          <a:lstStyle/>
          <a:p>
            <a:pPr algn="l"/>
            <a:r>
              <a:rPr sz="2800" b="1">
                <a:solidFill>
                  <a:srgbClr val="92400E"/>
                </a:solidFill>
                <a:latin typeface="微軟正黑體"/>
              </a:rPr>
              <a:t>💡 關鍵提點：搞懂手算邏輯，看懂 Python 代碼與除錯就輕而易舉！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2377440" cy="41148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微軟正黑體"/>
              </a:rPr>
              <a:t>狀態機模型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27432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000">
                <a:solidFill>
                  <a:srgbClr val="64748B"/>
                </a:solidFill>
                <a:latin typeface="微軟正黑體"/>
              </a:rPr>
              <a:t>進企四系4甲 ｜ 第 02 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E3A8A"/>
                </a:solidFill>
                <a:latin typeface="微軟正黑體"/>
              </a:rPr>
              <a:t>業務單據有限狀態機 (FSM) 模型架構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10728655" cy="3931920"/>
          </a:xfrm>
          <a:prstGeom prst="rect">
            <a:avLst/>
          </a:prstGeom>
          <a:noFill/>
        </p:spPr>
        <p:txBody>
          <a:bodyPr wrap="square" tIns="36576" bIns="36576" lIns="36576" rIns="36576">
            <a:spAutoFit/>
          </a:bodyPr>
          <a:lstStyle/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有限狀態機 (Finite State Machine, FSM) 描述單據在不同生命週期的狀態轉變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有效狀態集合：`[Draft 草稿, Pending 待核准, Approved 已核准, Shipped 已出貨, Closed 已結案]`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狀態轉換規則 (Transitions)：只有在『已核准』狀態下，才能觸發『出貨過帳』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非法轉移攔截：草稿狀態絕對不能直接變成已結案，系統自動拋出非法狀態異常 (IllegalStateError)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623560"/>
            <a:ext cx="10728655" cy="96012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73152" lIns="164592" rIns="164592"/>
          <a:lstStyle/>
          <a:p>
            <a:pPr algn="l"/>
            <a:r>
              <a:rPr sz="2800" b="1">
                <a:solidFill>
                  <a:srgbClr val="92400E"/>
                </a:solidFill>
                <a:latin typeface="微軟正黑體"/>
              </a:rPr>
              <a:t>💡 關鍵提點：狀態機是軟體架構中保障業務流程嚴謹度的核心模式。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2377440" cy="41148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微軟正黑體"/>
              </a:rPr>
              <a:t>邊界檢核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27432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000">
                <a:solidFill>
                  <a:srgbClr val="64748B"/>
                </a:solidFill>
                <a:latin typeface="微軟正黑體"/>
              </a:rPr>
              <a:t>進企四系4甲 ｜ 第 02 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E3A8A"/>
                </a:solidFill>
                <a:latin typeface="微軟正黑體"/>
              </a:rPr>
              <a:t>邊界條件 (Edge Cases) 與極端狀況處理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10728655" cy="3931920"/>
          </a:xfrm>
          <a:prstGeom prst="rect">
            <a:avLst/>
          </a:prstGeom>
          <a:noFill/>
        </p:spPr>
        <p:txBody>
          <a:bodyPr wrap="square" tIns="36576" bIns="36576" lIns="36576" rIns="36576">
            <a:spAutoFit/>
          </a:bodyPr>
          <a:lstStyle/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極端情境 1：庫存剛好等於 0 時，能否允許出貨？(依系統設定是否允許負庫存負數出貨)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極端情境 2：單筆訂單數量極大，超出單一倉庫容納量時的跨倉庫自動拆單調度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極端情境 3：供應商送貨分批到貨 (Partial Delivery) 之多次收料單據勾稽處理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軟體設計時必須全面考量邊界條件，系統才不會在實體營運時輕易崩潰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623560"/>
            <a:ext cx="10728655" cy="96012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73152" lIns="164592" rIns="164592"/>
          <a:lstStyle/>
          <a:p>
            <a:pPr algn="l"/>
            <a:r>
              <a:rPr sz="2800" b="1">
                <a:solidFill>
                  <a:srgbClr val="92400E"/>
                </a:solidFill>
                <a:latin typeface="微軟正黑體"/>
              </a:rPr>
              <a:t>💡 關鍵提點：考驗工程師與規劃師水準的，往往就在於邊界條件的處理細節。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2377440" cy="41148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微軟正黑體"/>
              </a:rPr>
              <a:t>效能最佳化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27432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000">
                <a:solidFill>
                  <a:srgbClr val="64748B"/>
                </a:solidFill>
                <a:latin typeface="微軟正黑體"/>
              </a:rPr>
              <a:t>進企四系4甲 ｜ 第 02 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E3A8A"/>
                </a:solidFill>
                <a:latin typeface="微軟正黑體"/>
              </a:rPr>
              <a:t>大量單據批次處理與運算效能考量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10728655" cy="3931920"/>
          </a:xfrm>
          <a:prstGeom prst="rect">
            <a:avLst/>
          </a:prstGeom>
          <a:noFill/>
        </p:spPr>
        <p:txBody>
          <a:bodyPr wrap="square" tIns="36576" bIns="36576" lIns="36576" rIns="36576">
            <a:spAutoFit/>
          </a:bodyPr>
          <a:lstStyle/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中大型企業每日產生數萬至數十萬筆單據，運算效能至關重要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即時運算 (Real-time Online) vs 批次夜間排程 (Batch Night Job)：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• 高度即時性功能 (如 ATP 庫存查核) 必須在 0.5 秒內完成回應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• 龐大運算功能 (如全廠多階 MRP 運算) 則常安排於午夜執行，避免影響白天打單效能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適當建立資料庫索引 (Index) 與快取機制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623560"/>
            <a:ext cx="10728655" cy="96012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73152" lIns="164592" rIns="164592"/>
          <a:lstStyle/>
          <a:p>
            <a:pPr algn="l"/>
            <a:r>
              <a:rPr sz="2800" b="1">
                <a:solidFill>
                  <a:srgbClr val="92400E"/>
                </a:solidFill>
                <a:latin typeface="微軟正黑體"/>
              </a:rPr>
              <a:t>💡 關鍵提點：兼顧即時性與系統穩定度是架構規劃的大智慧。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2377440" cy="41148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微軟正黑體"/>
              </a:rPr>
              <a:t>例外回滾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27432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000">
                <a:solidFill>
                  <a:srgbClr val="64748B"/>
                </a:solidFill>
                <a:latin typeface="微軟正黑體"/>
              </a:rPr>
              <a:t>進企四系4甲 ｜ 第 02 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E3A8A"/>
                </a:solidFill>
                <a:latin typeface="微軟正黑體"/>
              </a:rPr>
              <a:t>交易處理 (Transaction) 與失敗回滾 (Rollback)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10728655" cy="3931920"/>
          </a:xfrm>
          <a:prstGeom prst="rect">
            <a:avLst/>
          </a:prstGeom>
          <a:noFill/>
        </p:spPr>
        <p:txBody>
          <a:bodyPr wrap="square" tIns="36576" bIns="36576" lIns="36576" rIns="36576">
            <a:spAutoFit/>
          </a:bodyPr>
          <a:lstStyle/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ACID 特性保證：不可分割性 (Atomicity)、一致性 (Consistency)、隔離性、持久性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情境：扣除庫存成功，但在產出應收傳票時網路中斷中途當機？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回滾機制：系統必須自動復原剛剛已扣除的庫存，絕對不能留下扣了庫存卻無發票的孤兒資料！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全成功才過帳，任一失敗全數撤銷恢復原狀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623560"/>
            <a:ext cx="10728655" cy="96012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73152" lIns="164592" rIns="164592"/>
          <a:lstStyle/>
          <a:p>
            <a:pPr algn="l"/>
            <a:r>
              <a:rPr sz="2800" b="1">
                <a:solidFill>
                  <a:srgbClr val="92400E"/>
                </a:solidFill>
                <a:latin typeface="微軟正黑體"/>
              </a:rPr>
              <a:t>💡 關鍵提點：這就是為什麼企業級 ERP 必須依賴強大關聯式資料庫引擎支撐。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2377440" cy="41148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微軟正黑體"/>
              </a:rPr>
              <a:t>模型圖解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27432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000">
                <a:solidFill>
                  <a:srgbClr val="64748B"/>
                </a:solidFill>
                <a:latin typeface="微軟正黑體"/>
              </a:rPr>
              <a:t>進企四系4甲 ｜ 第 02 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E3A8A"/>
                </a:solidFill>
                <a:latin typeface="微軟正黑體"/>
              </a:rPr>
              <a:t>本單元核心狀態流轉圖解速記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10728655" cy="3931920"/>
          </a:xfrm>
          <a:prstGeom prst="rect">
            <a:avLst/>
          </a:prstGeom>
          <a:noFill/>
        </p:spPr>
        <p:txBody>
          <a:bodyPr wrap="square" tIns="36576" bIns="36576" lIns="36576" rIns="36576">
            <a:spAutoFit/>
          </a:bodyPr>
          <a:lstStyle/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【建立草稿】 ➔ 欄位自檢通過 ➔ 【待審核】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【待審核】 ➔ 主管簽核同意 ➔ 【已核准】 (若駁回則退回草稿)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【已核准】 ➔ 倉管執行物流點收 ➔ 【處理中】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【處理中】 ➔ 檢驗合格過帳 ➔ 【已完成】 並觸發財務模組產出傳票！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每一個步驟都有明確的負責角色與時間戳記 (Timestamp)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623560"/>
            <a:ext cx="10728655" cy="96012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73152" lIns="164592" rIns="164592"/>
          <a:lstStyle/>
          <a:p>
            <a:pPr algn="l"/>
            <a:r>
              <a:rPr sz="2800" b="1">
                <a:solidFill>
                  <a:srgbClr val="92400E"/>
                </a:solidFill>
                <a:latin typeface="微軟正黑體"/>
              </a:rPr>
              <a:t>💡 關鍵提點：清楚明白的狀態流轉圖是開發現代軟體必備的架構圖資。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2377440" cy="41148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微軟正黑體"/>
              </a:rPr>
              <a:t>踩坑警示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27432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000">
                <a:solidFill>
                  <a:srgbClr val="64748B"/>
                </a:solidFill>
                <a:latin typeface="微軟正黑體"/>
              </a:rPr>
              <a:t>進企四系4甲 ｜ 第 02 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E3A8A"/>
                </a:solidFill>
                <a:latin typeface="微軟正黑體"/>
              </a:rPr>
              <a:t>【實務防呆】企業常見五大流程作業陷阱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10728655" cy="3931920"/>
          </a:xfrm>
          <a:prstGeom prst="rect">
            <a:avLst/>
          </a:prstGeom>
          <a:noFill/>
        </p:spPr>
        <p:txBody>
          <a:bodyPr wrap="square" tIns="36576" bIns="36576" lIns="36576" rIns="36576">
            <a:spAutoFit/>
          </a:bodyPr>
          <a:lstStyle/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陷阱 1：業務私下口頭答應客戶降價，系統卻依標準定價開出發票，引發客戶拒付款爭議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陷阱 2：收料時未開箱檢驗即急於簽收點收，日後發現整批瑕疵卻已過帳難以向廠商索賠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陷阱 3：一物多料號問題，工程部改版後未停用舊料號，採購依舊料號盲目採購造成呆料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陷阱 4：安全存量設好後三年未曾動態檢討，市場衰退後倉庫依然依照舊參數自動請購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陷阱 5：權限分工不清，採購人員竟然同時具備新增供應商與核准付款權限，引發舞弊風險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623560"/>
            <a:ext cx="10728655" cy="96012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73152" lIns="164592" rIns="164592"/>
          <a:lstStyle/>
          <a:p>
            <a:pPr algn="l"/>
            <a:r>
              <a:rPr sz="2800" b="1">
                <a:solidFill>
                  <a:srgbClr val="92400E"/>
                </a:solidFill>
                <a:latin typeface="微軟正黑體"/>
              </a:rPr>
              <a:t>💡 關鍵提點：實務上的血淚教訓，在系統規劃時就要透過設計徹底堵死！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2377440" cy="41148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微軟正黑體"/>
              </a:rPr>
              <a:t>職能分工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27432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000">
                <a:solidFill>
                  <a:srgbClr val="64748B"/>
                </a:solidFill>
                <a:latin typeface="微軟正黑體"/>
              </a:rPr>
              <a:t>進企四系4甲 ｜ 第 02 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E3A8A"/>
                </a:solidFill>
                <a:latin typeface="微軟正黑體"/>
              </a:rPr>
              <a:t>職能分工 (Segregation of Duties, SoD) 內控原則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10728655" cy="3931920"/>
          </a:xfrm>
          <a:prstGeom prst="rect">
            <a:avLst/>
          </a:prstGeom>
          <a:noFill/>
        </p:spPr>
        <p:txBody>
          <a:bodyPr wrap="square" tIns="36576" bIns="36576" lIns="36576" rIns="36576">
            <a:spAutoFit/>
          </a:bodyPr>
          <a:lstStyle/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沙賓法案 (SOX) 與金管會內控法規嚴格要求的黃金原則：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經辦與審核分離：下單採購的人，絕不能是審核採購單的人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保管與記帳分離：掌管倉庫實體鑰匙的人，絕不能具備修改系統庫存帳目的權限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付款與對帳分離：出納開立支票付款的人，絕不能是負責銀行調節表對帳的人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在 ERP 中透過嚴格的角色權限矩陣 (RBAC) 強制落實 SoD 分工！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623560"/>
            <a:ext cx="10728655" cy="96012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73152" lIns="164592" rIns="164592"/>
          <a:lstStyle/>
          <a:p>
            <a:pPr algn="l"/>
            <a:r>
              <a:rPr sz="2800" b="1">
                <a:solidFill>
                  <a:srgbClr val="92400E"/>
                </a:solidFill>
                <a:latin typeface="微軟正黑體"/>
              </a:rPr>
              <a:t>💡 關鍵提點：檢定常考：SoD 職能分工是防範企業內部舞弊的最根本手段！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2377440" cy="41148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微軟正黑體"/>
              </a:rPr>
              <a:t>舞弊防範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27432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000">
                <a:solidFill>
                  <a:srgbClr val="64748B"/>
                </a:solidFill>
                <a:latin typeface="微軟正黑體"/>
              </a:rPr>
              <a:t>進企四系4甲 ｜ 第 02 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E3A8A"/>
                </a:solidFill>
                <a:latin typeface="微軟正黑體"/>
              </a:rPr>
              <a:t>常見採購與銷售舞弊情境與系統攔截機制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10728655" cy="3931920"/>
          </a:xfrm>
          <a:prstGeom prst="rect">
            <a:avLst/>
          </a:prstGeom>
          <a:noFill/>
        </p:spPr>
        <p:txBody>
          <a:bodyPr wrap="square" tIns="36576" bIns="36576" lIns="36576" rIns="36576">
            <a:spAutoFit/>
          </a:bodyPr>
          <a:lstStyle/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幽靈供應商 (Ghost Vendor) 舞弊：員工私設空殼公司向公司請款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• 系統防線：新增供應商必須由財務長雙重覆核，比對統編與銀行帳戶真實性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三向比對單價灌水舞弊：發票單價高於當初合約採購單價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• 系統防線：系統自動強制比對，只要價差超過容許公差 (Tolerance) 直接凍結付款！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銷貨折讓私吞舞弊：系統強制所有折讓單必須關聯原始發票並由主管特批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623560"/>
            <a:ext cx="10728655" cy="96012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73152" lIns="164592" rIns="164592"/>
          <a:lstStyle/>
          <a:p>
            <a:pPr algn="l"/>
            <a:r>
              <a:rPr sz="2800" b="1">
                <a:solidFill>
                  <a:srgbClr val="92400E"/>
                </a:solidFill>
                <a:latin typeface="微軟正黑體"/>
              </a:rPr>
              <a:t>💡 關鍵提點：系統不講人情，只講客觀規則，讓舞弊無所遁形。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2377440" cy="41148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微軟正黑體"/>
              </a:rPr>
              <a:t>公差容許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27432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000">
                <a:solidFill>
                  <a:srgbClr val="64748B"/>
                </a:solidFill>
                <a:latin typeface="微軟正黑體"/>
              </a:rPr>
              <a:t>進企四系4甲 ｜ 第 02 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E3A8A"/>
                </a:solidFill>
                <a:latin typeface="微軟正黑體"/>
              </a:rPr>
              <a:t>價格與數量公差 (Tolerance Limits) 設計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10728655" cy="3931920"/>
          </a:xfrm>
          <a:prstGeom prst="rect">
            <a:avLst/>
          </a:prstGeom>
          <a:noFill/>
        </p:spPr>
        <p:txBody>
          <a:bodyPr wrap="square" tIns="36576" bIns="36576" lIns="36576" rIns="36576">
            <a:spAutoFit/>
          </a:bodyPr>
          <a:lstStyle/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實務中散裝原物料 (如鋼鐵、塑膠粒、水泥) 常有微量溢裝或損耗，不可能 100% 剛剛好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ERP 設計公差機制：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• 數量公差：例如允許 ±2% 內自動收料入庫，超出 2% 則需額外主管核准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• 金額公差：例如發票尾數誤差在 5 元以內由系統自動調整至『發票尾差』科目自動過帳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兼顧管理嚴謹度與現場作業靈活性，避免為了 1 塊錢差額卡住整批貨物流通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623560"/>
            <a:ext cx="10728655" cy="96012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73152" lIns="164592" rIns="164592"/>
          <a:lstStyle/>
          <a:p>
            <a:pPr algn="l"/>
            <a:r>
              <a:rPr sz="2800" b="1">
                <a:solidFill>
                  <a:srgbClr val="92400E"/>
                </a:solidFill>
                <a:latin typeface="微軟正黑體"/>
              </a:rPr>
              <a:t>💡 關鍵提點：成熟的 ERP 系統必定具備彈性且可控的公差設定機制。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2377440" cy="41148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微軟正黑體"/>
              </a:rPr>
              <a:t>稽核軌跡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27432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000">
                <a:solidFill>
                  <a:srgbClr val="64748B"/>
                </a:solidFill>
                <a:latin typeface="微軟正黑體"/>
              </a:rPr>
              <a:t>進企四系4甲 ｜ 第 02 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E3A8A"/>
                </a:solidFill>
                <a:latin typeface="微軟正黑體"/>
              </a:rPr>
              <a:t>數位鑑識與修改歷史稽核日誌 (Audit Trail)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10728655" cy="3931920"/>
          </a:xfrm>
          <a:prstGeom prst="rect">
            <a:avLst/>
          </a:prstGeom>
          <a:noFill/>
        </p:spPr>
        <p:txBody>
          <a:bodyPr wrap="square" tIns="36576" bIns="36576" lIns="36576" rIns="36576">
            <a:spAutoFit/>
          </a:bodyPr>
          <a:lstStyle/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在合規的 ERP 系統中，沒有任何動作是不留痕跡的！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系統會自動紀錄四個關鍵要素 (4W)：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• Who (誰操作的)、When (精確到秒的時間戳記)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• Where (登入的 IP 與電腦名稱)、What (修改前舊值與修改後新值)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即使系統管理員也無法私自竄改稽核日誌，確保訴訟與查帳時的證據能力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623560"/>
            <a:ext cx="10728655" cy="96012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73152" lIns="164592" rIns="164592"/>
          <a:lstStyle/>
          <a:p>
            <a:pPr algn="l"/>
            <a:r>
              <a:rPr sz="2800" b="1">
                <a:solidFill>
                  <a:srgbClr val="92400E"/>
                </a:solidFill>
                <a:latin typeface="微軟正黑體"/>
              </a:rPr>
              <a:t>💡 關鍵提點：透明的日誌是保障守法員工與保護公司資產的最佳護盾。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2377440" cy="41148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微軟正黑體"/>
              </a:rPr>
              <a:t>除錯心法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27432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000">
                <a:solidFill>
                  <a:srgbClr val="64748B"/>
                </a:solidFill>
                <a:latin typeface="微軟正黑體"/>
              </a:rPr>
              <a:t>進企四系4甲 ｜ 第 02 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E3A8A"/>
                </a:solidFill>
                <a:latin typeface="微軟正黑體"/>
              </a:rPr>
              <a:t>實務營運除錯五步驟 SOP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10728655" cy="3931920"/>
          </a:xfrm>
          <a:prstGeom prst="rect">
            <a:avLst/>
          </a:prstGeom>
          <a:noFill/>
        </p:spPr>
        <p:txBody>
          <a:bodyPr wrap="square" tIns="36576" bIns="36576" lIns="36576" rIns="36576">
            <a:spAutoFit/>
          </a:bodyPr>
          <a:lstStyle/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步驟 1【凍結現場】：發生單據卡關時先不要重複點擊，避免重複扣帳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步驟 2【查閱狀態】：檢視單據目前卡在何種狀態 (如 Pending or Blocked)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步驟 3【比對日誌】：點擊單據歷程，查看系統拋出的錯誤代碼 (Error Code)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步驟 4【根本原因排查】：檢查是否為主檔資料缺失 (如缺稅碼) 或庫存不足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步驟 5【標準迴轉處置】：依標準紅字沖銷程序更正，嚴禁私下改動資料庫底層！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623560"/>
            <a:ext cx="10728655" cy="96012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73152" lIns="164592" rIns="164592"/>
          <a:lstStyle/>
          <a:p>
            <a:pPr algn="l"/>
            <a:r>
              <a:rPr sz="2800" b="1">
                <a:solidFill>
                  <a:srgbClr val="92400E"/>
                </a:solidFill>
                <a:latin typeface="微軟正黑體"/>
              </a:rPr>
              <a:t>💡 關鍵提點：養成冷靜有條理的除錯思維，是優秀 ERP 顧問的必備特質。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2377440" cy="41148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微軟正黑體"/>
              </a:rPr>
              <a:t>AI 整合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27432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000">
                <a:solidFill>
                  <a:srgbClr val="64748B"/>
                </a:solidFill>
                <a:latin typeface="微軟正黑體"/>
              </a:rPr>
              <a:t>進企四系4甲 ｜ 第 02 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E3A8A"/>
                </a:solidFill>
                <a:latin typeface="微軟正黑體"/>
              </a:rPr>
              <a:t>【Agentic AI 賦能】企業模式與企業流程管理 (BPR)之 AI 協同設計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10728655" cy="3931920"/>
          </a:xfrm>
          <a:prstGeom prst="rect">
            <a:avLst/>
          </a:prstGeom>
          <a:noFill/>
        </p:spPr>
        <p:txBody>
          <a:bodyPr wrap="square" tIns="36576" bIns="36576" lIns="36576" rIns="36576">
            <a:spAutoFit/>
          </a:bodyPr>
          <a:lstStyle/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在傳統 ERP 基礎上，我們如何透過 Agentic AI 實現自主智慧化？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AI Agent 扮演跨系統的『數位營運專員』，隨時傾聽外部事件觸發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ReAct 架構思維鏈：Thought (推論) ➔ Action (調用 ERP 工具) ➔ Observation (觀察回饋)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自動讀取 Email 與 PDF 單據，提取關鍵欄位自動呼叫本模組 API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若信心指數 &gt; 95% 且金額在授權額度內，Agent 自動放行，大幅釋放人力！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623560"/>
            <a:ext cx="10728655" cy="96012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73152" lIns="164592" rIns="164592"/>
          <a:lstStyle/>
          <a:p>
            <a:pPr algn="l"/>
            <a:r>
              <a:rPr sz="2800" b="1">
                <a:solidFill>
                  <a:srgbClr val="92400E"/>
                </a:solidFill>
                <a:latin typeface="微軟正黑體"/>
              </a:rPr>
              <a:t>💡 關鍵提點：將 AI 從只會聊天的玩具，轉化為真正能呼叫 API 操作系統的企業工具！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2377440" cy="41148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微軟正黑體"/>
              </a:rPr>
              <a:t>提示詞工程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27432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000">
                <a:solidFill>
                  <a:srgbClr val="64748B"/>
                </a:solidFill>
                <a:latin typeface="微軟正黑體"/>
              </a:rPr>
              <a:t>進企四系4甲 ｜ 第 02 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E3A8A"/>
                </a:solidFill>
                <a:latin typeface="微軟正黑體"/>
              </a:rPr>
              <a:t>專屬 System Prompt 提示詞與安全邊界 (Guardrails) 設定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10728655" cy="3931920"/>
          </a:xfrm>
          <a:prstGeom prst="rect">
            <a:avLst/>
          </a:prstGeom>
          <a:noFill/>
        </p:spPr>
        <p:txBody>
          <a:bodyPr wrap="square" tIns="36576" bIns="36576" lIns="36576" rIns="36576">
            <a:spAutoFit/>
          </a:bodyPr>
          <a:lstStyle/>
          <a:p>
            <a:pPr>
              <a:spcBef>
                <a:spcPts val="100"/>
              </a:spcBef>
              <a:spcAft>
                <a:spcPts val="8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角色設定：『你是一位嚴格把關 ERP 內控合規的專屬審核 AI Agent...』</a:t>
            </a:r>
          </a:p>
          <a:p>
            <a:pPr>
              <a:spcBef>
                <a:spcPts val="100"/>
              </a:spcBef>
              <a:spcAft>
                <a:spcPts val="8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強制輸出格式：一律要求以 JSON 格式回應，確保程式能直接解析呼叫後端 API</a:t>
            </a:r>
          </a:p>
          <a:p>
            <a:pPr>
              <a:spcBef>
                <a:spcPts val="100"/>
              </a:spcBef>
              <a:spcAft>
                <a:spcPts val="8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安全護欄 (Guardrails)：</a:t>
            </a:r>
          </a:p>
          <a:p>
            <a:pPr>
              <a:spcBef>
                <a:spcPts val="100"/>
              </a:spcBef>
              <a:spcAft>
                <a:spcPts val="8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• 絕對不可自行捏造不存在於主檔中的客戶編號或物料編號</a:t>
            </a:r>
          </a:p>
          <a:p>
            <a:pPr>
              <a:spcBef>
                <a:spcPts val="100"/>
              </a:spcBef>
              <a:spcAft>
                <a:spcPts val="8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• 只要單筆金額超過 NT$ 100,000，輸出必須將 `require_human_approval` 設為 true</a:t>
            </a:r>
          </a:p>
          <a:p>
            <a:pPr>
              <a:spcBef>
                <a:spcPts val="100"/>
              </a:spcBef>
              <a:spcAft>
                <a:spcPts val="8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嚴防 Prompt Injection 惡意提示詞攻擊，保障企業資料庫安全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623560"/>
            <a:ext cx="10728655" cy="96012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73152" lIns="164592" rIns="164592"/>
          <a:lstStyle/>
          <a:p>
            <a:pPr algn="l"/>
            <a:r>
              <a:rPr sz="2800" b="1">
                <a:solidFill>
                  <a:srgbClr val="92400E"/>
                </a:solidFill>
                <a:latin typeface="微軟正黑體"/>
              </a:rPr>
              <a:t>💡 關鍵提點：精準的提示詞與明確的護欄，是打造企業級 AI Agent 的不二法門。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2377440" cy="41148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微軟正黑體"/>
              </a:rPr>
              <a:t>專案實作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27432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000">
                <a:solidFill>
                  <a:srgbClr val="64748B"/>
                </a:solidFill>
                <a:latin typeface="微軟正黑體"/>
              </a:rPr>
              <a:t>進企四系4甲 ｜ 第 02 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E3A8A"/>
                </a:solidFill>
                <a:latin typeface="微軟正黑體"/>
              </a:rPr>
              <a:t>【Antigravity 專案】第 02 週實作任務目標與檔案導覽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10728655" cy="3931920"/>
          </a:xfrm>
          <a:prstGeom prst="rect">
            <a:avLst/>
          </a:prstGeom>
          <a:noFill/>
        </p:spPr>
        <p:txBody>
          <a:bodyPr wrap="square" tIns="36576" bIns="36576" lIns="36576" rIns="36576">
            <a:spAutoFit/>
          </a:bodyPr>
          <a:lstStyle/>
          <a:p>
            <a:pPr>
              <a:spcBef>
                <a:spcPts val="100"/>
              </a:spcBef>
              <a:spcAft>
                <a:spcPts val="8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實作專案主題：02_Week02_BPR流程狀態機實作</a:t>
            </a:r>
          </a:p>
          <a:p>
            <a:pPr>
              <a:spcBef>
                <a:spcPts val="100"/>
              </a:spcBef>
              <a:spcAft>
                <a:spcPts val="8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專案目錄位置：`02_每週Antigravity實作專案/` 對應第 02 週資料夾</a:t>
            </a:r>
          </a:p>
          <a:p>
            <a:pPr>
              <a:spcBef>
                <a:spcPts val="100"/>
              </a:spcBef>
              <a:spcAft>
                <a:spcPts val="8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檔案 1 `sample_data.json`：包含本週真實業務測試情境資料</a:t>
            </a:r>
          </a:p>
          <a:p>
            <a:pPr>
              <a:spcBef>
                <a:spcPts val="100"/>
              </a:spcBef>
              <a:spcAft>
                <a:spcPts val="8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檔案 2 `starter.py`：待完成之核心業務邏輯骨架程式碼</a:t>
            </a:r>
          </a:p>
          <a:p>
            <a:pPr>
              <a:spcBef>
                <a:spcPts val="100"/>
              </a:spcBef>
              <a:spcAft>
                <a:spcPts val="8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檔案 3 `verify.py`：自動化單元測試與評分檢驗腳本</a:t>
            </a:r>
          </a:p>
          <a:p>
            <a:pPr>
              <a:spcBef>
                <a:spcPts val="100"/>
              </a:spcBef>
              <a:spcAft>
                <a:spcPts val="8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本週任務：補充並完善 `starter.py` 中的關鍵函式，使測試全數通過！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623560"/>
            <a:ext cx="10728655" cy="96012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73152" lIns="164592" rIns="164592"/>
          <a:lstStyle/>
          <a:p>
            <a:pPr algn="l"/>
            <a:r>
              <a:rPr sz="2800" b="1">
                <a:solidFill>
                  <a:srgbClr val="92400E"/>
                </a:solidFill>
                <a:latin typeface="微軟正黑體"/>
              </a:rPr>
              <a:t>💡 關鍵提點：現在請全班開啟 VS Code，打開本週專案資料夾！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2377440" cy="41148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微軟正黑體"/>
              </a:rPr>
              <a:t>代碼導讀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27432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000">
                <a:solidFill>
                  <a:srgbClr val="64748B"/>
                </a:solidFill>
                <a:latin typeface="微軟正黑體"/>
              </a:rPr>
              <a:t>進企四系4甲 ｜ 第 02 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E3A8A"/>
                </a:solidFill>
                <a:latin typeface="微軟正黑體"/>
              </a:rPr>
              <a:t>實作核心函式與資料結構逐行導讀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10728655" cy="3931920"/>
          </a:xfrm>
          <a:prstGeom prst="rect">
            <a:avLst/>
          </a:prstGeom>
          <a:noFill/>
        </p:spPr>
        <p:txBody>
          <a:bodyPr wrap="square" tIns="36576" bIns="36576" lIns="36576" rIns="36576">
            <a:spAutoFit/>
          </a:bodyPr>
          <a:lstStyle/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載入資料：透過 `json.load()` 讀取真實業務單據陣列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資料走訪與比對：使用迴圈遍歷每筆項目，核對關鍵鍵值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商業規則運算：依據本週核心演算法公式計算目標數值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異常回傳格式：若發現資料不一致，將錯誤紀錄存入 `error_log` 列表回傳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程式碼風格保持乾淨、命名清晰，並附有詳細繁體中文註解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623560"/>
            <a:ext cx="10728655" cy="96012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73152" lIns="164592" rIns="164592"/>
          <a:lstStyle/>
          <a:p>
            <a:pPr algn="l"/>
            <a:r>
              <a:rPr sz="2800" b="1">
                <a:solidFill>
                  <a:srgbClr val="92400E"/>
                </a:solidFill>
                <a:latin typeface="微軟正黑體"/>
              </a:rPr>
              <a:t>💡 關鍵提點：寫程式不用怕，跟著骨架一步步補上商業邏輯即可！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2377440" cy="41148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微軟正黑體"/>
              </a:rPr>
              <a:t>實作步驟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27432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000">
                <a:solidFill>
                  <a:srgbClr val="64748B"/>
                </a:solidFill>
                <a:latin typeface="微軟正黑體"/>
              </a:rPr>
              <a:t>進企四系4甲 ｜ 第 02 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E3A8A"/>
                </a:solidFill>
                <a:latin typeface="微軟正黑體"/>
              </a:rPr>
              <a:t>【實作步驟指引】在終端機中執行與修改流程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10728655" cy="3931920"/>
          </a:xfrm>
          <a:prstGeom prst="rect">
            <a:avLst/>
          </a:prstGeom>
          <a:noFill/>
        </p:spPr>
        <p:txBody>
          <a:bodyPr wrap="square" tIns="36576" bIns="36576" lIns="36576" rIns="36576">
            <a:spAutoFit/>
          </a:bodyPr>
          <a:lstStyle/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步驟 1：在 VS Code 終端機切換目錄至第 02 週資料夾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步驟 2：開啟 `starter.py`，找到標註 `# TODO: 請在此處實作業務邏輯` 之區塊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步驟 3：依投影片指引補齊運算式與邏輯判斷條件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步驟 4：儲存檔案 (Ctrl + S)，在終端機執行 `python starter.py` 查看輸出結果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步驟 5：執行 `python verify.py` 進行自我驗收，看到 PASSED 綠字代表滿分過關！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623560"/>
            <a:ext cx="10728655" cy="96012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73152" lIns="164592" rIns="164592"/>
          <a:lstStyle/>
          <a:p>
            <a:pPr algn="l"/>
            <a:r>
              <a:rPr sz="2800" b="1">
                <a:solidFill>
                  <a:srgbClr val="92400E"/>
                </a:solidFill>
                <a:latin typeface="微軟正黑體"/>
              </a:rPr>
              <a:t>💡 關鍵提點：若遇到錯誤，終端機會清楚指出哪一個測試案例未通過，回頭檢查邏輯！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2377440" cy="41148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微軟正黑體"/>
              </a:rPr>
              <a:t>常見報錯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27432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000">
                <a:solidFill>
                  <a:srgbClr val="64748B"/>
                </a:solidFill>
                <a:latin typeface="微軟正黑體"/>
              </a:rPr>
              <a:t>進企四系4甲 ｜ 第 02 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E3A8A"/>
                </a:solidFill>
                <a:latin typeface="微軟正黑體"/>
              </a:rPr>
              <a:t>本週實作常見語法錯誤排解 (Error Troubleshooting)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10728655" cy="3931920"/>
          </a:xfrm>
          <a:prstGeom prst="rect">
            <a:avLst/>
          </a:prstGeom>
          <a:noFill/>
        </p:spPr>
        <p:txBody>
          <a:bodyPr wrap="square" tIns="36576" bIns="36576" lIns="36576" rIns="36576">
            <a:spAutoFit/>
          </a:bodyPr>
          <a:lstStyle/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常見錯誤 1【KeyError】：字典中找不到該欄位名稱，請檢查大小寫是否拼錯 (如 `Item_ID` vs `item_id`)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常見錯誤 2【TypeError】：將字串與數字進行加減運算，記住字串轉數字要用 `int()` 或 `float()`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常見錯誤 3【ZeroDivisionError】：除數為 0，計算比率時務必加入 `if total &gt; 0` 防呆判斷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保持耐心看懂英文報錯的最後一行，通常就是問題的解答所在！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623560"/>
            <a:ext cx="10728655" cy="96012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73152" lIns="164592" rIns="164592"/>
          <a:lstStyle/>
          <a:p>
            <a:pPr algn="l"/>
            <a:r>
              <a:rPr sz="2800" b="1">
                <a:solidFill>
                  <a:srgbClr val="92400E"/>
                </a:solidFill>
                <a:latin typeface="微軟正黑體"/>
              </a:rPr>
              <a:t>💡 關鍵提點：除錯能力是資管與企管人才最值錢的實戰競爭力！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2377440" cy="41148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微軟正黑體"/>
              </a:rPr>
              <a:t>進階擴展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27432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000">
                <a:solidFill>
                  <a:srgbClr val="64748B"/>
                </a:solidFill>
                <a:latin typeface="微軟正黑體"/>
              </a:rPr>
              <a:t>進企四系4甲 ｜ 第 02 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E3A8A"/>
                </a:solidFill>
                <a:latin typeface="微軟正黑體"/>
              </a:rPr>
              <a:t>【挑戰任務】如何將本程式封裝為標準 API Tools？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10728655" cy="3931920"/>
          </a:xfrm>
          <a:prstGeom prst="rect">
            <a:avLst/>
          </a:prstGeom>
          <a:noFill/>
        </p:spPr>
        <p:txBody>
          <a:bodyPr wrap="square" tIns="36576" bIns="36576" lIns="36576" rIns="36576">
            <a:spAutoFit/>
          </a:bodyPr>
          <a:lstStyle/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將我們寫好的 Python 運算函式加上 Type Hints 型態標註與 Docstring 說明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透過 FastAPI 或 Flask 封裝為標準 RESTful HTTP API 端點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提供 OpenAPI JSON Schema 定義檔，讓 AI Agent 能自動辨識並調用本工具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當 AI 聽懂自然語言時，底層調用的正是我們親手寫的這段商業邏輯！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623560"/>
            <a:ext cx="10728655" cy="96012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73152" lIns="164592" rIns="164592"/>
          <a:lstStyle/>
          <a:p>
            <a:pPr algn="l"/>
            <a:r>
              <a:rPr sz="2800" b="1">
                <a:solidFill>
                  <a:srgbClr val="92400E"/>
                </a:solidFill>
                <a:latin typeface="微軟正黑體"/>
              </a:rPr>
              <a:t>💡 關鍵提點：從寫小腳本到打造企業級 AI Tools，技術視野豁然開朗！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2377440" cy="41148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微軟正黑體"/>
              </a:rPr>
              <a:t>成果提交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27432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000">
                <a:solidFill>
                  <a:srgbClr val="64748B"/>
                </a:solidFill>
                <a:latin typeface="微軟正黑體"/>
              </a:rPr>
              <a:t>進企四系4甲 ｜ 第 02 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E3A8A"/>
                </a:solidFill>
                <a:latin typeface="微軟正黑體"/>
              </a:rPr>
              <a:t>專案成果 Commit 與平台作業繳交提醒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10728655" cy="3931920"/>
          </a:xfrm>
          <a:prstGeom prst="rect">
            <a:avLst/>
          </a:prstGeom>
          <a:noFill/>
        </p:spPr>
        <p:txBody>
          <a:bodyPr wrap="square" tIns="36576" bIns="36576" lIns="36576" rIns="36576">
            <a:spAutoFit/>
          </a:bodyPr>
          <a:lstStyle/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確認 `verify.py` 通過 100% 驗收後，切換至 GitHub Desktop 軟體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在 Summary 欄位輸入：`完成第 02 週 02_Week02_BPR流程狀態機實作 實作專案`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點擊【Commit to main】儲存本機進度，接著點擊【Push origin】推送到雲端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打開課程互動平台，確認個人登入狀態，檢查自己解鎖的專屬成就勳章！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623560"/>
            <a:ext cx="10728655" cy="96012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73152" lIns="164592" rIns="164592"/>
          <a:lstStyle/>
          <a:p>
            <a:pPr algn="l"/>
            <a:r>
              <a:rPr sz="2800" b="1">
                <a:solidFill>
                  <a:srgbClr val="92400E"/>
                </a:solidFill>
                <a:latin typeface="微軟正黑體"/>
              </a:rPr>
              <a:t>💡 關鍵提點：每週提交養成好習慣，期末專題報告輕鬆水到渠成！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2377440" cy="41148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微軟正黑體"/>
              </a:rPr>
              <a:t>證照考點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27432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000">
                <a:solidFill>
                  <a:srgbClr val="64748B"/>
                </a:solidFill>
                <a:latin typeface="微軟正黑體"/>
              </a:rPr>
              <a:t>進企四系4甲 ｜ 第 02 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E3A8A"/>
                </a:solidFill>
                <a:latin typeface="微軟正黑體"/>
              </a:rPr>
              <a:t>【考點精要】企業模式與企業流程管理 (BPR)之證照必考重點速記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10728655" cy="3931920"/>
          </a:xfrm>
          <a:prstGeom prst="rect">
            <a:avLst/>
          </a:prstGeom>
          <a:noFill/>
        </p:spPr>
        <p:txBody>
          <a:bodyPr wrap="square" tIns="36576" bIns="36576" lIns="36576" rIns="36576">
            <a:spAutoFit/>
          </a:bodyPr>
          <a:lstStyle/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證照考試核心大綱對應：BPR 核心定義、核心流程 O2C/P2P、組織穀倉打破、水平整合思維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考點記憶心法：掌握定義名詞英文縮寫、流程先後順序、單據勾稽關係與有形效益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學會常出『下列何者非屬...』或『順序何者正確...』等反向與流程排序題型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只要每週掌握課堂 5 題重點解析，期末考照通過率 95% 以上！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623560"/>
            <a:ext cx="10728655" cy="96012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73152" lIns="164592" rIns="164592"/>
          <a:lstStyle/>
          <a:p>
            <a:pPr algn="l"/>
            <a:r>
              <a:rPr sz="2800" b="1">
                <a:solidFill>
                  <a:srgbClr val="92400E"/>
                </a:solidFill>
                <a:latin typeface="微軟正黑體"/>
              </a:rPr>
              <a:t>💡 關鍵提點：課堂就是考照衝刺班，替大家省下昂貴的校外補習費用！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2377440" cy="41148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微軟正黑體"/>
              </a:rPr>
              <a:t>真題精析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27432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000">
                <a:solidFill>
                  <a:srgbClr val="64748B"/>
                </a:solidFill>
                <a:latin typeface="微軟正黑體"/>
              </a:rPr>
              <a:t>進企四系4甲 ｜ 第 02 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E3A8A"/>
                </a:solidFill>
                <a:latin typeface="微軟正黑體"/>
              </a:rPr>
              <a:t>【證照真題 1】模組核心觀念題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10728655" cy="3931920"/>
          </a:xfrm>
          <a:prstGeom prst="rect">
            <a:avLst/>
          </a:prstGeom>
          <a:noFill/>
        </p:spPr>
        <p:txBody>
          <a:bodyPr wrap="square" tIns="36576" bIns="36576" lIns="36576" rIns="36576">
            <a:spAutoFit/>
          </a:bodyPr>
          <a:lstStyle/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精選真題：關於企業模式與企業流程管理 (BPR)的核心功能與作業原則，下列敘述何者最為正確？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選項剖析：注意辨識選項中將不同模組職責互換的混淆陷阱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正確答案思維：牢記以單一真實數據源與跨模組即時連動為核心準則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關鍵記憶點：單據一旦過帳不可直接刪除，必須透過反沖紅字更正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623560"/>
            <a:ext cx="10728655" cy="96012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73152" lIns="164592" rIns="164592"/>
          <a:lstStyle/>
          <a:p>
            <a:pPr algn="l"/>
            <a:r>
              <a:rPr sz="2800" b="1">
                <a:solidFill>
                  <a:srgbClr val="92400E"/>
                </a:solidFill>
                <a:latin typeface="微軟正黑體"/>
              </a:rPr>
              <a:t>💡 關鍵提點：精準識破出題陷阱，拿分輕鬆又篤定。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2377440" cy="41148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微軟正黑體"/>
              </a:rPr>
              <a:t>真題精析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27432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000">
                <a:solidFill>
                  <a:srgbClr val="64748B"/>
                </a:solidFill>
                <a:latin typeface="微軟正黑體"/>
              </a:rPr>
              <a:t>進企四系4甲 ｜ 第 02 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E3A8A"/>
                </a:solidFill>
                <a:latin typeface="微軟正黑體"/>
              </a:rPr>
              <a:t>【證照真題 2】流程順序先後題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10728655" cy="3931920"/>
          </a:xfrm>
          <a:prstGeom prst="rect">
            <a:avLst/>
          </a:prstGeom>
          <a:noFill/>
        </p:spPr>
        <p:txBody>
          <a:bodyPr wrap="square" tIns="36576" bIns="36576" lIns="36576" rIns="36576">
            <a:spAutoFit/>
          </a:bodyPr>
          <a:lstStyle/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精選真題：在標準作業流程中，各項單據流轉的先後順序何者正確？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選項剖析：題目常將請購與採購倒置、或將出貨過帳置於開立發票之後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正確答案思維：遵循『計畫 ➔ 執行 ➔ 檢驗 ➔ 結算』之不可逆時間軸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口訣記憶：先有需求才採購、先有點收才付款、先有出貨才開票！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623560"/>
            <a:ext cx="10728655" cy="96012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73152" lIns="164592" rIns="164592"/>
          <a:lstStyle/>
          <a:p>
            <a:pPr algn="l"/>
            <a:r>
              <a:rPr sz="2800" b="1">
                <a:solidFill>
                  <a:srgbClr val="92400E"/>
                </a:solidFill>
                <a:latin typeface="微軟正黑體"/>
              </a:rPr>
              <a:t>💡 關鍵提點：順序題把握住物流先於金流的原則即可迎刃而解。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2377440" cy="41148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微軟正黑體"/>
              </a:rPr>
              <a:t>真題精析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27432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000">
                <a:solidFill>
                  <a:srgbClr val="64748B"/>
                </a:solidFill>
                <a:latin typeface="微軟正黑體"/>
              </a:rPr>
              <a:t>進企四系4甲 ｜ 第 02 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E3A8A"/>
                </a:solidFill>
                <a:latin typeface="微軟正黑體"/>
              </a:rPr>
              <a:t>【證照真題 3】主檔資料判定題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10728655" cy="3931920"/>
          </a:xfrm>
          <a:prstGeom prst="rect">
            <a:avLst/>
          </a:prstGeom>
          <a:noFill/>
        </p:spPr>
        <p:txBody>
          <a:bodyPr wrap="square" tIns="36576" bIns="36576" lIns="36576" rIns="36576">
            <a:spAutoFit/>
          </a:bodyPr>
          <a:lstStyle/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精選真題：下列各項資訊中，何者屬於長久維護且異動頻率最低的「主檔資料」？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選項剖析：(A) 銷售訂單 (B) 客戶主檔 (C) 每日出貨單 (D) 銀行存款傳票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正確答案：【(B) 客戶主檔】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解題盲點：訂單、出貨單、傳票皆為頻繁發生的交易資料 (Transaction Data)，唯有客戶代號與地址等屬性屬於主檔！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623560"/>
            <a:ext cx="10728655" cy="96012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73152" lIns="164592" rIns="164592"/>
          <a:lstStyle/>
          <a:p>
            <a:pPr algn="l"/>
            <a:r>
              <a:rPr sz="2800" b="1">
                <a:solidFill>
                  <a:srgbClr val="92400E"/>
                </a:solidFill>
                <a:latin typeface="微軟正黑體"/>
              </a:rPr>
              <a:t>💡 關鍵提點：高頻送分題，掌握主檔與交易資料差異即可秒殺！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2377440" cy="41148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微軟正黑體"/>
              </a:rPr>
              <a:t>真題精析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27432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000">
                <a:solidFill>
                  <a:srgbClr val="64748B"/>
                </a:solidFill>
                <a:latin typeface="微軟正黑體"/>
              </a:rPr>
              <a:t>進企四系4甲 ｜ 第 02 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E3A8A"/>
                </a:solidFill>
                <a:latin typeface="微軟正黑體"/>
              </a:rPr>
              <a:t>【證照真題 4】內控防弊情境題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10728655" cy="3931920"/>
          </a:xfrm>
          <a:prstGeom prst="rect">
            <a:avLst/>
          </a:prstGeom>
          <a:noFill/>
        </p:spPr>
        <p:txBody>
          <a:bodyPr wrap="square" tIns="36576" bIns="36576" lIns="36576" rIns="36576">
            <a:spAutoFit/>
          </a:bodyPr>
          <a:lstStyle/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精選真題：為防範採購人員私設空殼公司進行舞弊，企業在 ERP 系統中應採取何項內控機制？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選項剖析：(A) 提高採購人員薪資 (B) 實施 SoD 職能分工並將新增供應商交由獨立部門審核 (C) 取消採購單制度 (D) 完全信任經辦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正確答案：【(B) 實施 SoD 職能分工並交由獨立部門審核】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解題盲點：內控靠的是嚴格的權限與流程制衡，而不是道德勸說或信任！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623560"/>
            <a:ext cx="10728655" cy="96012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73152" lIns="164592" rIns="164592"/>
          <a:lstStyle/>
          <a:p>
            <a:pPr algn="l"/>
            <a:r>
              <a:rPr sz="2800" b="1">
                <a:solidFill>
                  <a:srgbClr val="92400E"/>
                </a:solidFill>
                <a:latin typeface="微軟正黑體"/>
              </a:rPr>
              <a:t>💡 關鍵提點：管理制度配合資訊系統，才能築起固若金湯的防線。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2377440" cy="41148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微軟正黑體"/>
              </a:rPr>
              <a:t>學習總結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27432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000">
                <a:solidFill>
                  <a:srgbClr val="64748B"/>
                </a:solidFill>
                <a:latin typeface="微軟正黑體"/>
              </a:rPr>
              <a:t>進企四系4甲 ｜ 第 02 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E3A8A"/>
                </a:solidFill>
                <a:latin typeface="微軟正黑體"/>
              </a:rPr>
              <a:t>第 02 週學習重點回顧與核心金句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10728655" cy="3931920"/>
          </a:xfrm>
          <a:prstGeom prst="rect">
            <a:avLst/>
          </a:prstGeom>
          <a:noFill/>
        </p:spPr>
        <p:txBody>
          <a:bodyPr wrap="square" tIns="36576" bIns="36576" lIns="36576" rIns="36576">
            <a:spAutoFit/>
          </a:bodyPr>
          <a:lstStyle/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核心理念：傳統企業以部門為中心（穀倉效應），各自為政；BPR 強調以『顧客價值』為起點重構端到端流程。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實作技能：完成 Python 業務邏輯編程，通過 `verify.py` 驗收並推送到 GitHub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考照能力：掌握本單元 5 大高頻核心考點與防呆原則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核心金句：『流程沒有整合，資訊就是孤島；資料沒有清洗，算力也是枉然！』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623560"/>
            <a:ext cx="10728655" cy="96012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73152" lIns="164592" rIns="164592"/>
          <a:lstStyle/>
          <a:p>
            <a:pPr algn="l"/>
            <a:r>
              <a:rPr sz="2800" b="1">
                <a:solidFill>
                  <a:srgbClr val="92400E"/>
                </a:solidFill>
                <a:latin typeface="微軟正黑體"/>
              </a:rPr>
              <a:t>💡 關鍵提點：每週堅持累積，期末收穫屬於自己的豐碩成果！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2377440" cy="41148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微軟正黑體"/>
              </a:rPr>
              <a:t>實機任務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27432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000">
                <a:solidFill>
                  <a:srgbClr val="64748B"/>
                </a:solidFill>
                <a:latin typeface="微軟正黑體"/>
              </a:rPr>
              <a:t>進企四系4甲 ｜ 第 02 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E3A8A"/>
                </a:solidFill>
                <a:latin typeface="微軟正黑體"/>
              </a:rPr>
              <a:t>Antigravity 任務：BPR 訂單到收款 (O2C) 嚴格狀態轉移機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10728655" cy="3931920"/>
          </a:xfrm>
          <a:prstGeom prst="rect">
            <a:avLst/>
          </a:prstGeom>
          <a:noFill/>
        </p:spPr>
        <p:txBody>
          <a:bodyPr wrap="square" tIns="36576" bIns="36576" lIns="36576" rIns="36576">
            <a:spAutoFit/>
          </a:bodyPr>
          <a:lstStyle/>
          <a:p>
            <a:pPr>
              <a:spcBef>
                <a:spcPts val="200"/>
              </a:spcBef>
              <a:spcAft>
                <a:spcPts val="1200"/>
              </a:spcAft>
            </a:pPr>
            <a:r>
              <a:rPr sz="2800" b="1">
                <a:solidFill>
                  <a:srgbClr val="1E3A8A"/>
                </a:solidFill>
                <a:latin typeface="微軟正黑體"/>
              </a:rPr>
              <a:t>🏢 企業情境：</a:t>
            </a:r>
            <a:r>
              <a:rPr sz="2800">
                <a:solidFill>
                  <a:srgbClr val="0F172A"/>
                </a:solidFill>
                <a:latin typeface="微軟正黑體"/>
              </a:rPr>
              <a:t>許多傳統企業業務員在未經信用審核前就通知倉庫私自發貨。本週實作狀態機，嚴格約束訂單生命週期轉移，杜絕越權出貨。</a:t>
            </a:r>
          </a:p>
          <a:p>
            <a:pPr>
              <a:spcBef>
                <a:spcPts val="200"/>
              </a:spcBef>
              <a:spcAft>
                <a:spcPts val="1200"/>
              </a:spcAft>
            </a:pPr>
            <a:r>
              <a:rPr sz="2800" b="1">
                <a:solidFill>
                  <a:srgbClr val="7C3AED"/>
                </a:solidFill>
                <a:latin typeface="微軟正黑體"/>
              </a:rPr>
              <a:t>🤖 AI 指引：</a:t>
            </a:r>
            <a:r>
              <a:rPr sz="2800">
                <a:solidFill>
                  <a:srgbClr val="0F172A"/>
                </a:solidFill>
                <a:latin typeface="微軟正黑體"/>
              </a:rPr>
              <a:t>請在 Antigravity 中實作 Order-to-Cash (O2C) 流程狀態機。定義狀態：DRAFT ➔ QUOTE ➔ ORDER_...</a:t>
            </a:r>
          </a:p>
          <a:p>
            <a:pPr>
              <a:spcBef>
                <a:spcPts val="200"/>
              </a:spcBef>
              <a:spcAft>
                <a:spcPts val="1200"/>
              </a:spcAft>
            </a:pPr>
            <a:r>
              <a:rPr sz="2800" b="1">
                <a:solidFill>
                  <a:srgbClr val="059669"/>
                </a:solidFill>
                <a:latin typeface="微軟正黑體"/>
              </a:rPr>
              <a:t>📦 產出交付：</a:t>
            </a:r>
            <a:r>
              <a:rPr sz="2800" b="1">
                <a:solidFill>
                  <a:srgbClr val="0F172A"/>
                </a:solidFill>
                <a:latin typeface="微軟正黑體"/>
              </a:rPr>
              <a:t>o2c_flow_result.json (存放於專案目錄)</a:t>
            </a:r>
          </a:p>
          <a:p>
            <a:pPr>
              <a:spcBef>
                <a:spcPts val="200"/>
              </a:spcBef>
              <a:spcAft>
                <a:spcPts val="1200"/>
              </a:spcAft>
            </a:pPr>
            <a:r>
              <a:rPr sz="2800" b="1">
                <a:solidFill>
                  <a:srgbClr val="1E3A8A"/>
                </a:solidFill>
                <a:latin typeface="微軟正黑體"/>
              </a:rPr>
              <a:t>🎯 實作驗收：</a:t>
            </a:r>
            <a:r>
              <a:rPr sz="2800">
                <a:solidFill>
                  <a:srgbClr val="0F172A"/>
                </a:solidFill>
                <a:latin typeface="微軟正黑體"/>
              </a:rPr>
              <a:t>解壓 Week02_Antigravity_Project.zip ➔ 執行 starter.py ➔ verify.py 驗收通過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623560"/>
            <a:ext cx="10728655" cy="960120"/>
          </a:xfrm>
          <a:prstGeom prst="roundRect">
            <a:avLst/>
          </a:prstGeom>
          <a:solidFill>
            <a:srgbClr val="ECFDF5"/>
          </a:solidFill>
          <a:ln w="1905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73152" lIns="164592" rIns="164592"/>
          <a:lstStyle/>
          <a:p>
            <a:pPr algn="l"/>
            <a:r>
              <a:rPr sz="2800" b="1">
                <a:solidFill>
                  <a:srgbClr val="065F46"/>
                </a:solidFill>
                <a:latin typeface="微軟正黑體"/>
              </a:rPr>
              <a:t>💡 電腦教室實戰：一人一機下載 Week02_Antigravity_Project.zip，動手做出真正可運行的產出！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2377440" cy="41148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微軟正黑體"/>
              </a:rPr>
              <a:t>課後任務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27432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000">
                <a:solidFill>
                  <a:srgbClr val="64748B"/>
                </a:solidFill>
                <a:latin typeface="微軟正黑體"/>
              </a:rPr>
              <a:t>進企四系4甲 ｜ 第 02 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E3A8A"/>
                </a:solidFill>
                <a:latin typeface="微軟正黑體"/>
              </a:rPr>
              <a:t>課後自主學習任務清單與下週預告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10728655" cy="3931920"/>
          </a:xfrm>
          <a:prstGeom prst="rect">
            <a:avLst/>
          </a:prstGeom>
          <a:noFill/>
        </p:spPr>
        <p:txBody>
          <a:bodyPr wrap="square" tIns="36576" bIns="36576" lIns="36576" rIns="36576">
            <a:spAutoFit/>
          </a:bodyPr>
          <a:lstStyle/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✅ 任務 1：檢查 GitHub 專案倉庫，確認本週代碼已順利 Push 上雲端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✅ 任務 2：登入線上教學互動平台，完成本週 5 題線上快測並查看錯題本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✅ 任務 3：預習下週章節進度，思考相關模組在自己日常生活中的應用案例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下週進度：持續深入下一模組，解鎖更進階的企業流程自動化挑戰！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623560"/>
            <a:ext cx="10728655" cy="96012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73152" lIns="164592" rIns="164592"/>
          <a:lstStyle/>
          <a:p>
            <a:pPr algn="l"/>
            <a:r>
              <a:rPr sz="2800" b="1">
                <a:solidFill>
                  <a:srgbClr val="92400E"/>
                </a:solidFill>
                <a:latin typeface="微軟正黑體"/>
              </a:rPr>
              <a:t>💡 關鍵提點：課業諮詢時間：每週一 15:00~16:00 育英樓 J801-1 研究室歡迎預約！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