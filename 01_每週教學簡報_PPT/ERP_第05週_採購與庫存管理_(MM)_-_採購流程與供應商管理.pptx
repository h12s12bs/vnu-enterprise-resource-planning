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64592" cy="4572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05840"/>
            <a:ext cx="102412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萬能科技大學 企業管理系 ｜ 11501 企業資源規劃 (ERP)</a:t>
            </a:r>
          </a:p>
          <a:p>
            <a:pPr>
              <a:spcAft>
                <a:spcPts val="1200"/>
              </a:spcAft>
            </a:pPr>
            <a:r>
              <a:rPr sz="4000" b="1">
                <a:solidFill>
                  <a:srgbClr val="FFFFFF"/>
                </a:solidFill>
                <a:latin typeface="微軟正黑體"/>
              </a:rPr>
              <a:t>第 05 週：採購與庫存管理 (MM) - 採購流程與供應商管理</a:t>
            </a:r>
          </a:p>
          <a:p>
            <a:pPr>
              <a:spcAft>
                <a:spcPts val="2000"/>
              </a:spcAft>
            </a:pPr>
            <a:r>
              <a:rPr sz="3000" b="1">
                <a:solidFill>
                  <a:srgbClr val="E2E8F0"/>
                </a:solidFill>
                <a:latin typeface="微軟正黑體"/>
              </a:rPr>
              <a:t>請購與採購之分權 ✕ 供應商主檔與詢比議價</a:t>
            </a:r>
          </a:p>
          <a:p>
            <a:pPr>
              <a:spcAft>
                <a:spcPts val="1000"/>
              </a:spcAft>
            </a:pPr>
            <a:r>
              <a:rPr sz="2800">
                <a:solidFill>
                  <a:srgbClr val="CBD5E1"/>
                </a:solidFill>
                <a:latin typeface="微軟正黑體"/>
              </a:rPr>
              <a:t>班級：進企四系4甲 ｜ 時間：週四 16:20 ~ 17:50 (電腦教室)</a:t>
            </a:r>
          </a:p>
          <a:p>
            <a:r>
              <a:rPr sz="2800" b="1">
                <a:solidFill>
                  <a:srgbClr val="D97706"/>
                </a:solidFill>
                <a:latin typeface="微軟正黑體"/>
              </a:rPr>
              <a:t>授課教師：邱俊維 博士 ｜ ★ 考取 AI 賦能 ERP 或相關證照直接加分！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學習目標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本週核心學習目標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掌握請購單 (PR) 與採購單 (PO) 之本質區別與內控分權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理解供應商主檔 (Vendor Master) 與詢比議價流程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認識存貨管理指標：安全存量、再訂購點 (ROP) 與前置時間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探索 Procurement Agent 智慧採購代理人之實務應用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關鍵提點：採購是成本控制的第一線，內控嚴謹才能防堵弊端！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痛點破冰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課堂痛點破冰：現場缺料，領班能直接叫貨嗎？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產線領班如果能直接打電話叫貨，會發生什麼事？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價格沒人把關，可能買貴或買到劣質品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缺乏採購單據，會計根本不知道這筆帳該不該付！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內控原則：各單位只能提『請購 (PR)』，由專職採購發出『採購單 (PO)』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分權制衡 (Segregation of Duties) 是企業舞弊防範的基石！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關鍵提點：請購與採購職能分離是內部稽核重要審查項目！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作業流程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Procure-to-Pay (P2P) 採購循環標準流程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1. 請購申請 (PR)：各部門提出需求數量與預計使用日期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2. 詢價與比價 (RFQ)：採購向合格供應商發出詢價單並比價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3. 採購單簽核 (PO)：依採購授權金額階層進行主管審批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4. 發出訂單：透過 EDI / Email 將正式採購單傳送給供應商</a:t>
            </a:r>
          </a:p>
          <a:p>
            <a:pPr>
              <a:spcBef>
                <a:spcPts val="200"/>
              </a:spcBef>
              <a:spcAft>
                <a:spcPts val="14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5. 跟催與交期監控：追蹤廠商在途到貨狀況確保不缺料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關鍵提點：標準流程確保每一筆採購都合規且具備最佳價格優勢！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AI 賦能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智慧採購代理 (Procurement Agent) 實務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物料即時監控：當庫存跌破安全存量，AI 自動觸發請購草稿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供應商智慧比價：根據歷史達交率、品質良率與合約自動排序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自動化詢價草擬：AI 自動發送標準詢價信件並彙整廠商報價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採購專員只需做最終確認，例行比價作業時間縮減 70%！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關鍵提點：AI 賦能 ERP 重點提及智慧採購代理！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實機任務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Antigravity 任務：採購與庫存 MM - 再訂購點 (ROP) 監控與 PR 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🏢 企業情境：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製造業最怕突發性停工待料。本週讓學生使用 Antigravity 監控倉儲 10 項關鍵物料，依據交期天數、日消耗率與安全存量計算 ROP，一旦...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7C3AED"/>
                </a:solidFill>
                <a:latin typeface="微軟正黑體"/>
              </a:rPr>
              <a:t>🤖 AI 指引：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使用 Antigravity 撰寫庫存自動監控與請購引擎。公式：ROP = (日平均耗用量 * 採購前置天數) + 安全存量。當現有庫存 &lt;= ...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059669"/>
                </a:solidFill>
                <a:latin typeface="微軟正黑體"/>
              </a:rPr>
              <a:t>📦 產出交付：</a:t>
            </a:r>
            <a:r>
              <a:rPr sz="2800" b="1">
                <a:solidFill>
                  <a:srgbClr val="0F172A"/>
                </a:solidFill>
                <a:latin typeface="微軟正黑體"/>
              </a:rPr>
              <a:t>generated_pr_orders.json (存放於專案目錄)</a:t>
            </a:r>
          </a:p>
          <a:p>
            <a:pPr>
              <a:spcBef>
                <a:spcPts val="200"/>
              </a:spcBef>
              <a:spcAft>
                <a:spcPts val="1200"/>
              </a:spcAft>
            </a:pPr>
            <a:r>
              <a:rPr sz="2800" b="1">
                <a:solidFill>
                  <a:srgbClr val="1E3A8A"/>
                </a:solidFill>
                <a:latin typeface="微軟正黑體"/>
              </a:rPr>
              <a:t>🎯 實作驗收：</a:t>
            </a:r>
            <a:r>
              <a:rPr sz="2800">
                <a:solidFill>
                  <a:srgbClr val="0F172A"/>
                </a:solidFill>
                <a:latin typeface="微軟正黑體"/>
              </a:rPr>
              <a:t>解壓 Week05_Antigravity_Project.zip ➔ 執行 starter.py ➔ verify.py 驗收通過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065F46"/>
                </a:solidFill>
                <a:latin typeface="微軟正黑體"/>
              </a:rPr>
              <a:t>💡 電腦教室實戰：一人一機下載 Week05_Antigravity_Project.zip，動手做出真正可運行的產出！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2377440" cy="41148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微軟正黑體"/>
              </a:rPr>
              <a:t>證照考點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0" y="27432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2000">
                <a:solidFill>
                  <a:srgbClr val="64748B"/>
                </a:solidFill>
                <a:latin typeface="微軟正黑體"/>
              </a:rPr>
              <a:t>進企四系4甲 ｜ 第 05 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E3A8A"/>
                </a:solidFill>
                <a:latin typeface="微軟正黑體"/>
              </a:rPr>
              <a:t>ERP 專業核心考點解析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00200"/>
            <a:ext cx="10728655" cy="3931920"/>
          </a:xfrm>
          <a:prstGeom prst="rect">
            <a:avLst/>
          </a:prstGeom>
          <a:noFill/>
        </p:spPr>
        <p:txBody>
          <a:bodyPr wrap="square" tIns="36576" bIns="36576" lIns="36576" rIns="36576">
            <a:spAutoFit/>
          </a:bodyPr>
          <a:lstStyle/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1：請購單 (PR) 為內部文件，採購單 (PO) 具法律效力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2：採購單核准階層依採購總金額大小而有所不同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3：供應商評選四大維度：品質 (Q)、成本 (C)、交期 (D)、服務 (S)</a:t>
            </a:r>
          </a:p>
          <a:p>
            <a:pPr>
              <a:spcBef>
                <a:spcPts val="400"/>
              </a:spcBef>
              <a:spcAft>
                <a:spcPts val="2000"/>
              </a:spcAft>
            </a:pPr>
            <a:r>
              <a:rPr sz="2800" b="1">
                <a:solidFill>
                  <a:srgbClr val="D97706"/>
                </a:solidFill>
                <a:latin typeface="微軟正黑體"/>
              </a:rPr>
              <a:t>• </a:t>
            </a:r>
            <a:r>
              <a:rPr sz="2800">
                <a:solidFill>
                  <a:srgbClr val="0F172A"/>
                </a:solidFill>
                <a:latin typeface="微軟正黑體"/>
              </a:rPr>
              <a:t>考點 4：前置時間 (Lead Time) 為下單至貨物實際入庫的總時長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960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 bIns="73152" lIns="164592" rIns="164592"/>
          <a:lstStyle/>
          <a:p>
            <a:pPr algn="l"/>
            <a:r>
              <a:rPr sz="2800" b="1">
                <a:solidFill>
                  <a:srgbClr val="92400E"/>
                </a:solidFill>
                <a:latin typeface="微軟正黑體"/>
              </a:rPr>
              <a:t>💡 關鍵提點：請進入教學平台完成第 5 週隨堂快測！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