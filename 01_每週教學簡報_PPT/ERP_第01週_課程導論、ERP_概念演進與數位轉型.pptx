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64592" cy="4572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005840"/>
            <a:ext cx="10241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萬能科技大學 企業管理系 ｜ 11501 企業資源規劃 (ERP)</a:t>
            </a:r>
          </a:p>
          <a:p>
            <a:pPr>
              <a:spcAft>
                <a:spcPts val="1200"/>
              </a:spcAft>
            </a:pPr>
            <a:r>
              <a:rPr sz="4000" b="1">
                <a:solidFill>
                  <a:srgbClr val="FFFFFF"/>
                </a:solidFill>
                <a:latin typeface="微軟正黑體"/>
              </a:rPr>
              <a:t>第 01 週：課程導論、ERP 概念演進與數位轉型</a:t>
            </a:r>
          </a:p>
          <a:p>
            <a:pPr>
              <a:spcAft>
                <a:spcPts val="2000"/>
              </a:spcAft>
            </a:pPr>
            <a:r>
              <a:rPr sz="3000" b="1">
                <a:solidFill>
                  <a:srgbClr val="E2E8F0"/>
                </a:solidFill>
                <a:latin typeface="微軟正黑體"/>
              </a:rPr>
              <a:t>企業核心流程整合 ✕ Agentic AI 前瞻應用 ✕ GitHub/Antigravity 新手安裝實戰</a:t>
            </a:r>
          </a:p>
          <a:p>
            <a:pPr>
              <a:spcAft>
                <a:spcPts val="1000"/>
              </a:spcAft>
            </a:pPr>
            <a:r>
              <a:rPr sz="2800">
                <a:solidFill>
                  <a:srgbClr val="CBD5E1"/>
                </a:solidFill>
                <a:latin typeface="微軟正黑體"/>
              </a:rPr>
              <a:t>班級：進企四系4甲 ｜ 時間：週四 16:20 ~ 17:50 (電腦教室)</a:t>
            </a:r>
          </a:p>
          <a:p>
            <a:r>
              <a:rPr sz="2800" b="1">
                <a:solidFill>
                  <a:srgbClr val="D97706"/>
                </a:solidFill>
                <a:latin typeface="微軟正黑體"/>
              </a:rPr>
              <a:t>授課教師：邱俊維 博士 ｜ ★ 考取 AI 賦能 ERP 或相關證照直接加分！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教師簡介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01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授課教師個人自我介紹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授課教師：邱俊維 博士 (Dr. Chun-Wei Chiu)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學歷背景：長庚大學 管理研究所 博士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專長領域：決策分析與作業研究、AI Agent 與軟體實務、全端開發、企業資源規劃 (ERP)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授課時間：每週四 16:20 ~ 17:50 ｜ 上課地點：電腦教室 (一人一機)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課業諮詢 (Office Hours)：每週一 15:00~16:00 (育英樓 J801-1 研究室)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關鍵提點：聯絡信箱：jimchiu@vnu.edu.tw ｜ 電話：0976-595-981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修課規範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01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開課基本資訊與學期評分標準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授課班級：進修部 企業管理系 四系 4 甲 (進企四系4甲)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平時出席：20% (出席狀況檢核，考量進修部特性比重調低，輕鬆無負擔)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期中報告繳交：40% (期中實務流程分析報告，線上系統繳交)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期末專題報告繳交：40% (企業 ERP ✕ AI 專案成果，線上系統繳交)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★ 專業證照加分特別條款：考取 AI 賦能 ERP 或相關證照直接計入學期總成績加分！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關鍵提點：評分簡明好計算，每週準時到課並完成平台實作即可穩健高分！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加分機制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01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★ 專業證照特別加分規定說明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修課期間考取 AI 賦能 ERP 或相關證照，直接計入學期總成績特別加分！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推薦證照一：中華企業資源規劃學會「AI 賦能 ERP 規劃師」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推薦證照二：中華企業資源規劃學會「ERP 規劃師 / 基礎檢定」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落實「課堂學習即考照複習」，平台內建 200+ 題真題題庫與隨堂測驗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凡取得證照者，於線上報告繳交時勾選證照加分，老師後台即時核發加分！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關鍵提點：證照加分無上限，輔導全班同學取得就業黃金證照！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教學節奏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01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每週上課教學節奏 (100 分鐘標準配比)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【前半段 50 分鐘】核心觀念精講與企業實務重點剖析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00~10 分鐘：破冰引言、企業營運痛點案例導入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10~40 分鐘：單元流程、模組架構圖解與資料流向剖析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40~50 分鐘：高頻精選考題實戰演練與解題盲點破解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【後半段 50 分鐘】流程實戰、情境演練與 Antigravity 動手做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00~35 分鐘：企業情境演練、Antigravity 專案實作、AI Agent 實務展示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35~45 分鐘：操作易錯防呆提醒與程式自我驗證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45~50 分鐘：線上隨堂 5 題快測評量與課後進度存檔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關鍵提點：高效率 100 分鐘，兼具「理論理解」與「實務操作」！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學習地圖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01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本學期 18 週整體學習藍圖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第 01~04 週：導論、BPR 流程管理 ✕ 銷售與配銷 (SD) 模組與 ATP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第 05~08 週：採購與庫存 (MM) ✕ 生產排程與 MRP 物料需求運算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第 09 週：期中成果檢驗與流程專案提案企劃書驗收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第 10~14 週：會計財務 (FI/CO) ✕ 人資 (HR) ✕ 供應鏈 (SCM) ✕ CRM ✕ BI 大數據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第 15~18 週：ERP 導入方法論 ✕ Agentic AI 實務 ✕ 模擬考衝刺 ✕ 期末檢定成果發表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關鍵提點：循序漸進，讓每位同學從零基礎成為能規劃、會應用的 ERP 專業人才！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企業痛點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01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什麼是企業「資訊孤島 (Information Island)」？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傳統企業各部門使用各自獨立的套裝軟體或 Excel，彼此互不相連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業務接單不知道倉庫實際庫存，容易超賣發生跳票危機與客戶客訴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採購不知道工廠當前生產排程，盲目採購導致原物料爆倉占用資金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跨部門傳遞單據依賴人工紙本鍵入，重複輸入容易產生人為打錯與漏單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ERP 的終極使命：打破部門穀倉 (Silos)，建立企業單一真實數據源 (Single Source of Truth)！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關鍵提點：資訊孤島是 ERP 專業檢定必考重點概念！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名詞定義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01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權威機構對 ERP 的標準定義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Gartner Group (1990 年首次提出 ERP 名詞)：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ERP 是一套結合業務流程與最佳實務 (Best Practice) 的整合應用軟體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APICS (美國生產與庫存管理學會，現為 ASCM) 權威定義：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ERP 是一個『會計導向 (Accounting-oriented)』的資訊系統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目的在辨識與規劃整個企業為了接單、製造、運送與結算所需的各項資源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關鍵記憶點：ERP 的骨幹為會計金流，所有實體物流與業務最後都會化為財務傳票！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關鍵提點：檢定高頻考點：請牢記 APICS 定義 ERP 為『會計導向』的系統！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歷史演進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01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ERP 系統演進關鍵四階段 (1960s ~ 2020s)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第一階段 (1960s) MRP (材料需求規劃)：計算零組件『何時需要？需要多少？』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第二階段 (1980s) MRPII (製造資源規劃)：納入產能、工時、機台與成本財務控制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第三階段 (1990s) ERP (企業資源規劃)：跨越生產範疇，橫向打通銷配、採購、財務、人資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第四階段 (2020s) Agentic AI 賦能 ERP：具備自主感知、工具調用與人機協同決策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關鍵提點：演進順序：MRP ➔ MRPII ➔ ERP ➔ 延伸 ERP (ERP II) ➔ Agentic ERP！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演進細部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01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MRP 與 MRPII 的本質差異比較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MRP (Material Requirements Planning)：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核心在於物料庫存控制，依據主生產排程 (MPS) 與 BOM 表反推淨需求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假設產能無限，無法評估工廠機台是否能如期負荷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MRPII (Manufacturing Resource Planning)：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將『製造資源』全數納入，包含機台產能規劃 (CRP) 與人力工時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導入『財務與成本會計閉環』，直接將生產數量轉化為製造成本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關鍵提點：MRPII 最大的突破是將『實體物料』與『財務會計』正式結合！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模組架構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01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企業 ERP 核心模組架構全景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SD (Sales &amp; Distribution 銷售配銷)：客戶報價、訂單處理、ATP 查核、交貨發票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MM (Materials Management 物料採購)：供應商管理、請購採購、收料檢驗、發票比對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PP (Production Planning 生產規劃)：BOM 表管理、工單排程、工時回報、完工入庫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FI (Financial Accounting 財務會計)：總帳、應收帳款 (AR)、應付帳款 (AP)、資產負債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CO (Controlling 成本控制)：成本中心、內部訂單、獲利能力分析 (CO-PA)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關鍵提點：五大模組相互勾稽，資料只需鍵入一次，全企業即時同步共享！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三流整合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01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ERP 系統中的『三流合一』整合機制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資訊流 (Information Flow)：客戶訂單、採購單、生產製令、物料編號、技術規格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物流 (Logistics / Material Flow)：原料入庫、發料生產、半成品移轉、成品出貨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金流 (Financial Flow)：應收帳款開立、應付帳款折讓、銀行對帳、成本結算傳票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整合效益：只要倉管在系統點選『出貨扣帳』，庫存數量即減扣 (物流)，同時自動產出應收帳款傳票 (金流) 與通知客戶出貨單號 (資訊流)！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關鍵提點：三流合一消除了部門間對帳的時差與人為誤差！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AI 升級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01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傳統 ERP vs Agentic AI 智慧升級對比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傳統 ERP 痛點：高度依賴人工鍵入單據，員工大半天時間花在鍵盤打單與對帳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Agentic AI 新典範：AI Agent 能自動閱讀非結構化的 Email 報價單與 LINE 訂購訊息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自主感知與工具調用 (Tool Calling)：AI 主動呼叫 ERP API 查詢 ATP 庫存與信用評等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安全邊界護欄 (Guardrails)：金額超標單據自動攔截並呈報主管進行人機協同審批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從『事後被動記錄的打單系統』躍升為『事前智慧決策的營運大腦』！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關鍵提點：本課程將在第 16 週帶領大家親自體驗 ReAct Agentic AI 實務！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導入效益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01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企業導入 ERP 的有形與無形效益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有形效益 (Tangible Benefits)：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存貨水準降低 20%~35%，大幅減少資金積壓與報廢損失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採購成本降低 5%~10%，訂單交期縮短 50% 以上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無形效益 (Intangible Benefits)：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決策資訊即時化，高階主管隨時開啟儀表板掌握全公司損益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企業營運流程標準化，降低因關鍵員工離職導致的營運風險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提升客戶滿意度與企業整體商譽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關鍵提點：檢定考題常問：存貨降低與週期縮短屬於有形效益！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核心精神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01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ERP 核心成功要素 (CSF) 總結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高階主管的全力支持與承諾 (Top Management Commitment) 為第一成功要件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全體員工的觀念轉變與教育訓練 (變革管理 Change Management)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嚴格把關基礎主檔資料的正確性 (Garbage In, Garbage Out)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切忌削足適履盲目修改標準系統，應先落實業務流程最佳化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明確的專案目標、里程碑與時程控管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關鍵提點：記住：ERP 導入是一場企業管理變革，而不僅僅是一項 IT 軟體專案！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實戰教學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01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為什麼修習本課程需要使用 GitHub？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全球最大的軟體協作與專案管理平台，被全球 1 億以上工程師與企業使用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企業端：ERP 專案代碼、自動化腳本、API 介接程式庫皆保存在 GitHub 上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個人端：作為個人專屬的「雲端作品集」，期中與期末成果可直接附在履歷上展示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提供免費的 GitHub Pages 服務，學生能將作業一鍵發布為對外公開網頁！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本學期我們將一步一步帶領同學註冊，不需要程式基礎也能輕鬆搞定！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關鍵提點：現在請同學跟隨老師步驟，一起開啟瀏覽器開始操作！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步驟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01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【GitHub 註冊】步驟 1：打開官方首頁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打開電腦教室的 Chrome 或 Edge 瀏覽器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在網址列輸入官方網址：https://github.com 並按下 Enter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確認看到 GitHub 深色質感的官方首頁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找到右上角綠色或白色按鈕「Sign up」(註冊)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點擊「Sign up」進入新使用者帳號創建精靈頁面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關鍵提點：若已有 GitHub 帳號的同學，可直接點擊「Sign in」登入。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步驟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01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【GitHub 註冊】步驟 2：輸入常用電子郵件 (Email)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畫面會顯示『Welcome to GitHub! Let's begin the adventure』打字機動畫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在『Enter your email』輸入欄位中，填寫您最常收信的信箱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建議使用常用的 Gmail 或學校信箱 (如 s1130xxxx@mail.vnu.edu.tw)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請確認信箱帳號無拼錯，稍後需要收 6 位數確認信！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輸入完成後點擊「Continue」按鈕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關鍵提點：請勿使用隨選即丟的暫時性信箱，以免期末專題遺失無法找回。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步驟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01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【GitHub 註冊】步驟 3：設定安全登入密碼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在『Create a password』欄位輸入您要為 GitHub 設定的專屬密碼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安全密碼規範：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密碼長度至少需要 8 個字元以上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必須包含至少一個數字與一個小寫英文字母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建議加入大寫英文字母或標點符號提高安全性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確認下方強度提示條變為綠色『Password is strong』，點擊「Continue」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關鍵提點：請務必在手機記事本或筆記本記下密碼，避免下次上課忘記！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步驟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01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【GitHub 註冊】步驟 4：設定專屬使用者名稱 (Username)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在『Enter a username』欄位輸入您在 GitHub 上的代號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此名稱將成為您未來的公開網址，如：https://github.com/vnu-yourname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命名建議：可用英文姓名或學號縮寫，例如：`vnu-chiu-113` 或 `kevin-vnu`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限制規則：僅能使用英文字母、數字以及單一連字號 (-)，不可有空格或中文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若名稱已被他人使用，系統會提示紅字，換個數字組合直到出現綠色勾勾即可！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關鍵提點：確認出現綠色提示『Username is available』後，點擊「Continue」！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步驟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01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【GitHub 註冊】步驟 5：電子郵件偏好與通知勾選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系統會詢問：『Would you like to receive product updates and announcements via email?』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意思是：是否願意透過 Email 接收 GitHub 產品最新功能與更新消息？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如果想保持信箱乾淨，直接輸入英文字母『n』即可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如果想接收新功能通知，可輸入英文字母『y』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輸入完畢後，點擊「Continue」進入下一步安全檢驗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關鍵提點：一般學生通常輸入『n』即可，不影響任何功能使用。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步驟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01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【GitHub 註冊】步驟 6：通過人機拼圖驗證 (Verify)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畫面會顯示『Verify your account』防止惡意機器人註冊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點擊綠色「Verify」或「開始拼圖」按鈕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常見題目：利用箭頭旋轉動物方向，使其面朝向手指示的方向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依照畫面指示調整圖片角度，完成 1~2 題配對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看到綠色打勾表示人機驗證通過！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點擊最下方按鈕「Create account」創建帳號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關鍵提點：若驗證失敗不要慌張，點擊重試 (Retry) 再次依圖示調整即可。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步驟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01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【GitHub 註冊】步驟 7：登入信箱收取 6 位數驗證碼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保持 GitHub 網頁不要關閉，另外開一個新分頁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前往您的電子信箱 (如 Gmail 或萬能校園信箱)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檢查來自 GitHub 的新郵件，信件主旨通常為：『Your GitHub launch code』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在信件中找到一組由 6~8 個英數構成的啟動碼 (例如：`742918`)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如果收件匣沒看到，請到『垃圾郵件』或『促銷內容』資料夾翻找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關鍵提點：驗證碼通常在 30 秒內送達，請耐心等待並重新整理信箱收件匣。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步驟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01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【GitHub 註冊】步驟 8：輸入驗證碼啟動帳號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切換回 GitHub 註冊分頁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在 6 個驗證方格中，依序鍵入剛在信件中收到的代碼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輸入正確後，網頁會自動辨識並發光跳轉，無需額外按鈕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若逾時失效，可點擊下方的『Resend code』重新發送新驗證碼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關鍵提點：順利輸入完成，恭喜您已成功解鎖 GitHub 世界的大門！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步驟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01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【GitHub 註冊】步驟 9：問卷身分調查與選擇免費方案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系統會詢問初次使用問卷：『How many team members...』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人數選擇『Just me』(僅我自己)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身分選擇『Student』(學生)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詢問感興趣的功能，直接滑到最下方點擊「Continue」跳過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最後方案選擇頁面，務必選擇左邊的【Free (免費方案)】(點擊 Continue for free)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千萬不要選到右邊的付費 Pro 方案！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關鍵提點：本課程所有工具完全使用 GitHub 免費版即可暢行無阻！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步驟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01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【GitHub 註冊】步驟 10：註冊成功與個人主頁巡禮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看到個人主頁儀表板 (Dashboard) 出現，代表註冊完全成功！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檢視右上角的圓形頭像圖示，點擊可看見您的 Username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點擊「Your profile」可瀏覽個人專屬展示首頁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目前首頁為空是正常的，稍後我們將把第一個 ERP 專案發布上去！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請先將 GitHub 網頁維持登入狀態，接下來我們安裝電腦端軟體！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關鍵提點：第一階段 GitHub 雲端帳號註冊完成！全班同學請舉手確認進度！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軟體簡介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01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為什麼需要安裝 GitHub Desktop？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傳統 Git 工具必須在黑底白字的終端機輸入繁複英文指令 (如 `git commit -m`)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對於初學者而言，容易因為英文拼錯或指令參數錯誤而卡關挫折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GitHub Desktop 是官方推出的圖形化視窗軟體 (GUI)：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一鍵下載、一鍵備份、一鍵推送到雲端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檔案有任何修改，軟體畫面會以紅綠兩色清楚比對差異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不用背任何黑黑的命令列，完全靠滑鼠點擊就能完成專案繳交！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關鍵提點：進企四系4甲同學首選工具：簡單、直覺、好上手！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步驟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01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【GitHub Desktop】步驟 11：前往官網下載安裝檔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在瀏覽器新分頁中輸入網址：https://desktop.github.com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確認進入 GitHub Desktop 官方下載頁面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中央會有一顆醒目的紫色大按鈕：『Download for Windows (64-bit)』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點擊此按鈕開始下載安裝程式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下載檔案名稱通常為：`GitHubDesktopSetup-x64.exe` (約 140MB)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關鍵提點：電腦教室網路速度快，下載通常在 10~20 秒內即可完成。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步驟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01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【GitHub Desktop】步驟 12：執行安裝程式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下載完成後，點擊瀏覽器右上角的下載清單，或打開『下載』資料夾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找到 `GitHubDesktopSetup-x64.exe` 檔案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在該檔案上按滑鼠右鍵，點選【以系統管理員身分執行】(或直接按兩下執行)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畫面會出現 GitHub 貓頭鷹標誌的小貓圖示，代表正在自動解壓縮與安裝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此軟體採無腦靜默安裝，通常無須點選複雜的 Next，安裝完畢會自動開啟！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關鍵提點：若跳出 Windows Defender 安全提示，請點擊『其他資訊』➔『仍要執行』。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步驟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01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【GitHub Desktop】步驟 13：初次開啟歡迎畫面與登入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安裝完成後，GitHub Desktop 會自動開啟並顯示歡迎畫面：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『Welcome to GitHub Desktop』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中央第一個按鈕：藍底白字的【Sign in to GitHub.com】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請用滑鼠直接點擊【Sign in to GitHub.com】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系統會彈出一個提示視窗，並準備連動瀏覽器進行授權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關鍵提點：不要點擊第二個 Enterprise 選項，我們要綁定的是剛剛註冊的個人帳號。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步驟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01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【GitHub Desktop】步驟 14：瀏覽器跳轉授權與綁定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點擊後，您的預設瀏覽器會自動彈出授權分頁：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標題為『Authorize GitHub Desktop』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畫面會顯示 GitHub Desktop 請求存取您的帳號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滾動到下方，點擊綠色的巨大按鈕：【Authorize desktop】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瀏覽器會彈出小視窗詢問：『是否要開啟 GitHubDesktop.exe？』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勾選『一律允許』並點擊【開啟 GitHub Desktop】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關鍵提點：授權成功後，控制權會自動跳回剛剛安裝的 GitHub Desktop 桌面軟體。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步驟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01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【GitHub Desktop】步驟 15：設定 Git 提交者身分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跳回軟體後，會看見畫面標題為『Configure Git』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欄位一【Name】：請輸入您的「萬能學號與中文姓名」(例如：`11308888 王小明`)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這樣未來在作業提交紀錄中，老師一眼就能看到是哪位同學的成果！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欄位二【Email】：系統通常會自動帶入剛剛授權的帳號信箱，保持不變即可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確認兩欄填妥後，點擊右下角藍色按鈕【Finish】完成設定！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關鍵提點：姓名填寫中文學號姓名，在期末成績審核時最為清晰便利。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步驟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01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【GitHub Desktop】步驟 16：軟體三大核心介面導覽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歡迎進入 GitHub Desktop 正式主畫面！請認識左上角三大金剛按鈕：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1. 【Current repository】(當前專案倉庫)：用來切換不同的專案資料夾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2. 【Current branch】(當前分支)：本學期我們一律使用預設的 `main` 分支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3. 【Fetch origin / Push origin】(雲端同步鈕)：最右側的同步發布按鈕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只要在本地修改檔案，點擊右邊這個按鈕，就能將作業一鍵傳上雲端！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關鍵提點：軟體介面非常清爽，沒有任何多餘干擾按鈕。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步驟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01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【GitHub Desktop】步驟 17：日常使用偏好設定確認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點擊上方選單列的【File】➔ 選擇【Options...】(偏好設定)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點選左側第二項【Accounts】：確認看到自己的 GitHub 帳號已顯示 Signed in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點選左側第三項【Git】：確認 Name 為學號姓名、Email 為註冊信箱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點選左側第四項【Appearance】：可依個人喜好切換深色 (Dark) 或淺色 (Light) 主題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確認完畢後點擊【Save】關閉視窗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關鍵提點：恭喜！GitHub Desktop 本地軟體已完全配置就緒！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步驟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01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【疑難排解】常見問題 1：授權跳轉沒有反應？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狀況：點擊『Sign in to GitHub.com』後，瀏覽器沒有自動打開？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原因：電腦教室瀏覽器防彈出視窗功能阻擋，或預設瀏覽器關聯異常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解決方法 1：手動複製畫面下方出現的『copy the token』連結到 Chrome 開啟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解決方法 2：將 Chrome 設為 Windows 預設瀏覽器後再次嘗試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若依然卡關，請立即舉手告知邱老師協助排解！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關鍵提點：電腦教室常見小狀況，只要手動貼上授權連結即可解決。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步驟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01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【疑難排解】常見問題 2：防毒軟體攔截安裝？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狀況：執行安裝檔時跳出 Windows 藍色安全性提示畫面？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原因：Windows Defender 遇到新下載檔案的正常保護機制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排除步驟：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點擊畫面上的文字連結【其他資訊】(More info)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右下角就會出現按鈕【仍要執行】(Run anyway)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點擊【仍要執行】即可順利進入安裝流程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關鍵提點：GitHub Desktop 為微軟官方出品的正規軟體，絕對安全無毒。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步驟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01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【階段檢核】前兩階段目標達成確認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✅ 檢核點 1：GitHub 網頁版已註冊並能順利登入主頁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✅ 檢核點 2：桌面已有 GitHub Desktop 圖示且已登入成功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✅ 檢核點 3：軟體中已填妥學號與姓名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現在全班同學都已具備軟體雲端協作的基本裝備！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接下來第三階段，我們將配置 Python 與 Antigravity 專案實作包！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關鍵提點：休息 2 分鐘喝口水，請同學彼此確認左右同學是否皆已完成！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概念認識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01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什麼是 Google Antigravity 與每週專案包？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Antigravity 是先進的 Agentic AI 開發環境與協同程式助手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在電腦教室中，每位同學都有一台電腦，本課程不搞『只在網頁上隨便點一點』的假模擬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我們要讓每位同學真正拿到【每週企業實戰專案包 (Starter Code)】：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內含真實 ERP 企業營運主檔資料 (`sample_data.json`)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內含實務邏輯程式碼架構 (`starter.py`)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內含自動批改驗算測試引擎 (`verify.py`)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同學寫出東西、執行過關，就真正掌握了企業流程自動化！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關鍵提點：做中學、學中做，累積真實企業實戰力！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步驟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01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【環境檢查】步驟 21：檢查電腦是否已有 Python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按鍵盤上的【Win 鍵 + R】，輸入 `cmd` 或 `powershell` 並按 Enter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或在 Windows 搜尋欄輸入『PowerShell』點開藍色視窗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在終端機中輸入指令：`python --version` 並按下 Enter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若看到 `Python 3.10.x` 或 `3.11.x`、`3.12.x`，代表電腦教室已裝好 Python！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若提示找不到指令或跳出微軟商店，請依下一步驟快速下載安裝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關鍵提點：萬能電腦教室電腦通常均已預裝 Python 3.10 以上版本。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步驟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01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【Python 安裝】步驟 22：Python 官網下載與關鍵打勾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若需安裝 Python：打開瀏覽器前往 https://www.python.org/downloads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點擊黃色大按鈕【Download Python 3.12.x】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執行下載下來的安裝檔 `python-3.12.x-amd64.exe`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⚠️【全宇宙最重要的一步】：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在安裝視窗最下方，務必將【Add python.exe to PATH】方框勾選打勾！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若沒勾選此項，終端機將無法辨識 python 指令！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勾選後點擊【Install Now】，稍候 1 分鐘直到顯示『Setup was successful』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關鍵提點：千萬記住：Add Python to PATH 一定要打勾！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步驟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01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【終端啟航】步驟 23：免裝編輯器！Windows 內建 PowerShell 開啟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本課程【不需要】學生去下載安裝複雜的 VS Code 或其他編輯器！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按鍵盤上的【Win 鍵 + R】，輸入 `powershell` 並按 Enter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或在 Windows 搜尋欄輸入『PowerShell』點開藍色視窗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直接使用 Windows 內建命令列工具，操作最簡潔、無任何額外軟體門檻！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在終端機中輸入 `python --version` 確認電腦教室 Python 環境正常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關鍵提點：善用鍵盤【Tab 鍵】可以自動補齊資料夾名稱，不用辛苦手打長路徑！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步驟 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01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【工具配置】步驟 24：本機端安裝 Antigravity CLI 工具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在 PowerShell 視窗中輸入指令：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`pip install antigravity` 並按下 Enter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（若電腦教室環境已預裝，亦可直接使用課堂提供的專案工具包）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稍候數秒看到 `Successfully installed` 即代表命令列工具配置完成！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輸入 `python -m antigravity --help` 檢視指令說明，確認工具運作就緒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關鍵提點：命令列工具輕量、快速，最適合電腦教室大規模一人一機教學。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步驟 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01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⚠️【血淚避坑】步驟 25：為什麼務必先在本機端 CLI 登入？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⚠️【真實課堂慘痛經驗】：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全班數十位同學若同時間在【網頁版 Google Cloud Shell】註冊或登入 Antigravity，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會因為 Google IP 併發限制與多重驗證請求過載，導致全班連線卡死、系統無法響應！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最終課堂被迫暫停，大家乾等無法實作！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✅【正確解法】：『先在本機端 CLI 登入取得憑證』！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每位同學直接在面前的電腦做獨立認證，各走各的網路連線，10 秒順暢搞定！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關鍵提點：本機端登入完成後，後續無論本機跑或 Cloud Shell 跑都能順暢不塞車！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步驟 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01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【身分授權】步驟 26：本機 CLI 執行 `antigravity login` 授權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在剛剛開啟的本機 PowerShell 中輸入指令：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`antigravity login` (或 `python -m antigravity auth login`) 並按 Enter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系統會自動呼叫並彈出您電腦的預設瀏覽器 (Chrome / Edge)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在網頁中選取您的學校 Google 帳號或個人 Google 帳號進行登入與授權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授權完成後，瀏覽器顯示『Authentication successful』即可關閉網頁！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回到 PowerShell，即會看到登入成功、憑證已安全儲存於本機！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關鍵提點：本機獨立授權認證，徹底解決雲端伺服器集體卡死痛點！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步驟 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01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【專案取得】步驟 27：下載課程專案包至安全目錄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取得本週企業專案實作包的兩種簡單方式：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方式 A (最簡單)：在課程平台點擊【下載本週專案包 (ZIP)】解壓至 `D:/projects`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方式 B：在 GitHub Desktop 中點擊【Clone repository】複製官方倉庫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⚠️【路徑安全指南】：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建議放置於：`D:/projects` 或 `C:/projects` 或自己的隨身碟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嚴禁包含中文目錄、空格或特殊符號，以避免 Python 讀檔錯誤！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關鍵提點：路徑越乾淨，執行越順暢！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步驟 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01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【目錄巡檢】步驟 28：命令列切換進入第 01 週專案目錄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在 PowerShell 中使用 `cd` 指令切換到實作資料夾：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輸入：`cd D:/projects/02_每週Antigravity實作專案/01_Week01_企業資料結構與主檔實體建模`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輸入指令 `dir` 查看資料夾中四大關鍵檔案：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1. `README.md`：本週任務說明書 (AS-IS 痛點與 TO-BE 解法)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2. `sample_data.json`：企業原始混亂資料 (內含缺失值與重複項)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3. `starter.py`：實務邏輯程式碼 ｜ 4. `verify.py`：評分驗證程式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不需要 VS Code！用 Windows 內建記事本 (Notepad) 就能直接檢視修改！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關鍵提點：Tab 鍵是鍵盤神鍵，輸入開頭兩三個字母按 Tab 即可自動補全路徑！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步驟 29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01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【實務運算】步驟 29：執行 `python starter.py` 產出企業主檔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在終端機中輸入指令：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`python starter.py` 並按下 Enter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程式會自動讀取 `sample_data.json` 中的混亂主檔資料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透過 Antigravity Agentic 邏輯執行：資料格式標準化、去除重複值與防呆防錯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終端機印出執行進度，並在當前目錄自動產出成果交付檔案：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`master_data_clean.json` (清洗後之企業乾淨主檔)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關鍵提點：看見終端機印出清洗成功筆數，代表第一階段運算順利達標！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步驟 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01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【自我驗證】步驟 30：執行 `python verify.py` 自我檢查評分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每週專案最讚的設計：自帶評分老師 `verify.py`！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在終端機中鍵入指令：`python verify.py` 並按下 Enter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程式會自動執行 3~5 項企業業務規則檢驗 (如：主檔欄位驗證、除錯率計算)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若全部通過，終端機會噴出彩色字樣：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✨【SUCCESS】All validation tests passed! 實作成果完全符合企業標準！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若有錯誤，會清楚提示是哪一行規則未達標，修改後再測即可！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關鍵提點：寫完馬上知道自己對不對，完全不用擔心做錯！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步驟 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01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⚠️【🚨 重中之重】步驟 31：電腦教室「關機重置」生存法則！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⚠️【電腦教室還原卡致命地雷】：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電腦教室的電腦皆安裝了『系統還原卡 / 還原軟體』！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只要【下課電腦關機】或【課堂中途重開機】，桌面與 C 槽檔案將【立即被徹底清除重置】！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下課如果沒把成果傳到雲端，今天辛苦做的所有程式與作業將『永久消失無法找回』！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🚨 全班同學請牢記：每次執行完成，下課前務必執行『下一步的雲端備份三部曲』！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關鍵提點：絕對不要存了桌面就拍拍屁股走人，重開機全沒了！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步驟 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01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【雲端備份】步驟 32：成果上傳至個人 Google Drive 或 GitHub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每次執行產出作品後，請選擇以下任一方式備份上傳：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途徑 1 (最直覺)：開啟瀏覽器登入個人的【Google 雲端硬碟 (Google Drive)】，將今日做好的專案資料夾直接拖拉上傳備份！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途徑 2 (軟體人推薦)：在 GitHub Desktop 點選【Commit】與【Push】，直接推送到自己的 GitHub 雲端倉庫！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途徑 3 (作業繳交)：直接到本課程平台的【📤 學生報告繳交】專區上傳成果檔案！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關鍵提點：只要上傳到個人雲端，哪怕電腦重開機一百次，心血也永遠安全！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步驟 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01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【雲端雙軌】步驟 33：備選方案 - Google Cloud Shell 雲端執行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除了本機執行外，同學亦可使用 Google Cloud Shell 作為雲端備選：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網址：https://shell.cloud.google.com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由於我們剛剛已在本機熟悉了指令並取得授權，在 Cloud Shell 中不會再手忙腳亂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Cloud Shell 好處：自帶 5GB 免費永久儲存空間，不受電腦教室關機重置影響！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隨時隨地用瀏覽器點開即可接續練習！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關鍵提點：本機 CLI 衝刺 ＋ Cloud Shell 雲端隨身備用，雙軌兼備最穩健！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成果發布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01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【作業繳交】步驟 34：成果如何讓老師線上看見？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本課程提供專屬現代化線上繳交專區，不用再寄隨身碟或 Email 附件！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兩種成果繳交方式：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1. 【線上公開成果網址】(推薦)：填寫您的 GitHub 倉庫或雲端分享網址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2. 【附件檔案上傳】：上傳您的報告 Word/PDF/Markdown 檔案 (10MB 內)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繳交後即刻存入 Firebase 雲端資料庫，老師將在線上親自評閱打分！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關鍵提點：支援手機、平板或筆電隨時登入查閱自己已繳交的歷程。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平台登入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01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【作業繳交】步驟 35：進入課程平台並使用 Google 登入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打開瀏覽器前往課程互動平台網址：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`https://h12s12bs.github.io/vnu-enterprise-resource-planning/`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點擊右上角白色按鈕【Google 登入】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選擇您常用的 Google 帳號授權登入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登入後點擊右上角頭像選單，點選【修改學號與姓名】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輸入您的『萬能科大學號』(如 11308888) 與『中文姓名』並儲存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關鍵提點：綁定學號與姓名後，所有答題紀錄與報告成果均會歸戶至您的個人成績單！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填寫表單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01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【作業繳交】步驟 36：進入學生報告繳交專區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點擊頂部導覽列按鈕【📤 學生報告繳交】進入繳交專區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欄位 1【繳交報告類別】：依當前進度挑選『期中報告 (40%)』或『期末報告 (40%)』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欄位 2【專案主題 / 標題】：輸入專案題名 (例：`自行車業主檔實體建模實作報告`)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欄位 3【核心內容摘要與成果說明】：簡要撰寫 200~500 字心得以條列呈現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欄位 4【線上成果網址】：貼入您的 GitHub 專案或雲端網址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欄位 5【附件檔案】：若有 PDF/Word 報告亦可一併附加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關鍵提點：內容摘要清楚說明遭遇問題與解決辦法，更容易獲得高分肯定！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證照加分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01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【作業繳交】步驟 37：勾選證照特別加分申請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在繳交表單下方，有一個金黃色的特別加分勾選區塊：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☑【🌟 申請專業證照特別加分】：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『我已考取或本學期正在報考 AI 賦能 ERP 或 ERP 相關檢定證照，請老師予以學期總成績特別加分！』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若您有考照計畫或已取得證照，請務必將此項方框打勾！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確認資料皆填寫完畢後，點擊最下方綠色按鈕【確認送出繳交報告】！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關鍵提點：送出後畫面會跳出恭喜提示框，代表資料已即時寫入 Firebase 雲端！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成績查閱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01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【作業繳交】步驟 38：在右側查看即時反饋與老師評語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送出報告後，右側『我的報告繳交歷程與成績』會立即出現您的報告卡片！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尚未批改時，會顯示金黃色徽章【⏳ 待老師批改中】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老師於後台完成批閱後，徽章會自動變為綠色【評定得分：92 分】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下方會出現綠色的【邱俊維 老師回饋評語】文字框，提供專業改進指導！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個人紀錄完全受到資安隔離，全班只有您本人與授課教師看得到，隱私絕對安全！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關鍵提點：每位同學都能清楚掌握自己的學期平時與期中、期末得分現況！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考題解析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01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【證照真題 1】資訊科技的角色演變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題目：資訊科技 (IT) 在當代企業組織中所扮演的角色為何？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選項：(1) 可有可無 (2) 提高營業額工具 (3) 獨特競爭武器 (4) 生存與發展的必備配備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正確答案：【(4) 企業生存與發展所必須的基本配備】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盲點破解：很多同學容易誤選 (3)！在早期 IT 確實是策略武器，但現代若無系統連基本發票與訂單都無法開立，IT 已轉變成如同水電般的企業生存基本門檻！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關鍵提點：認證檢定基礎概念第 1 題，請務必掌握演變邏輯！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考題解析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01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【證照真題 2】資訊孤島的標準定義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題目：所謂「資訊孤島 (Information Island)」最精確的定義指的是？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選項：(1) 孤立海外小島 (2) 理應共享卻無法互通的獨立系統 (3) 人工傳遞資訊無效率 (4) 拔除網路線的電腦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正確答案：【(2) 一群理應共同分享的資訊，卻沒有能夠相互連繫的資訊系統】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盲點破解：資訊孤島是企業存在大量資料，但因軟體格式不一或部門壁壘，無法串接共享而形成的封閉現象。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關鍵提點：ERP 誕生的核心目的就是為了消滅資訊孤島！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考題解析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01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【證照真題 3】企業經營規模擴大的挑戰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題目：當企業經營規模由小變大時，最容易產生的管理挑戰是？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選項：(1) 員工專業分工更精細 (2) 部門主管更專注 (3) 部門間協調溝通問題越嚴重 (4) 工作更單純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正確答案：【(3) 部門間協調溝通的問題越來越嚴重】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盲點破解：組織膨脹後各部門各執一詞（業務怪生產交不出貨、生產怪採購料進不來），因此極度需要 ERP 橫向串連流程！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關鍵提點：流程導向 (Process-oriented) 是打破跨部門隔閡的解藥。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考題解析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01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【證照真題 4】ERP 名詞起源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題目：企業資源規劃 (ERP) 這一名詞最初是由哪一家研究顧問機構所提出？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選項：(1) IBM (2) Gartner Group (3) SAP (4) APICS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正確答案：【(2) Gartner Group】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盲點破解：常有同學誤選全球最大 ERP 廠商 (3) SAP！請記住名詞起源是由分析機構 Gartner Group 於 1990 年正式提出定義。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關鍵提點：此為 CERPS 與各類 ERP 檢定考試出現頻率前三名的歷史常識題！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考題解析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01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【證照真題 5】MRP 演進之推動力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題目：製造業由材料需求規劃 (MRP) 發展為製造資源規劃 (MRPII) 的主要驅動力為何？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選項：(1) 為了採購更快 (2) 為了納入產能限制與財務成本 (3) 為了人事薪資 (4) 為了客戶關係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正確答案：【(2) 為了克服產能限制並與財務成本會計結合】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盲點破解：MRP 假設產能無限大是不切實際的，MRPII 納入粗產能 (RCCP) 與產能需求規劃 (CRP)，實現製造與會計閉環控制！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關鍵提點：每週課堂隨堂 5 題快測，實力自然累積！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實機任務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01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Antigravity 任務：ERP 核心主檔資料結構與防呆驗證器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800" b="1">
                <a:solidFill>
                  <a:srgbClr val="1E3A8A"/>
                </a:solidFill>
                <a:latin typeface="微軟正黑體"/>
              </a:rPr>
              <a:t>🏢 企業情境：</a:t>
            </a:r>
            <a:r>
              <a:rPr sz="2800">
                <a:solidFill>
                  <a:srgbClr val="0F172A"/>
                </a:solidFill>
                <a:latin typeface="微軟正黑體"/>
              </a:rPr>
              <a:t>企業各部門常因客戶名稱、統編或料號定義不一而陷入『資訊孤島』。本週任務要求學生使用 Antigravity 定義企業客戶、物料與庫房之 Sche...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800" b="1">
                <a:solidFill>
                  <a:srgbClr val="7C3AED"/>
                </a:solidFill>
                <a:latin typeface="微軟正黑體"/>
              </a:rPr>
              <a:t>🤖 AI 指引：</a:t>
            </a:r>
            <a:r>
              <a:rPr sz="2800">
                <a:solidFill>
                  <a:srgbClr val="0F172A"/>
                </a:solidFill>
                <a:latin typeface="微軟正黑體"/>
              </a:rPr>
              <a:t>你是一位 ERP 系統架構師。請使用 Python 建立企業主檔（Customer 與 Item）的驗證器。讀取 sample_data.jso...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800" b="1">
                <a:solidFill>
                  <a:srgbClr val="059669"/>
                </a:solidFill>
                <a:latin typeface="微軟正黑體"/>
              </a:rPr>
              <a:t>📦 產出交付：</a:t>
            </a:r>
            <a:r>
              <a:rPr sz="2800" b="1">
                <a:solidFill>
                  <a:srgbClr val="0F172A"/>
                </a:solidFill>
                <a:latin typeface="微軟正黑體"/>
              </a:rPr>
              <a:t>master_data_clean.json 與 error_log.txt (存放於專案目錄)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800" b="1">
                <a:solidFill>
                  <a:srgbClr val="1E3A8A"/>
                </a:solidFill>
                <a:latin typeface="微軟正黑體"/>
              </a:rPr>
              <a:t>🎯 實作驗收：</a:t>
            </a:r>
            <a:r>
              <a:rPr sz="2800">
                <a:solidFill>
                  <a:srgbClr val="0F172A"/>
                </a:solidFill>
                <a:latin typeface="微軟正黑體"/>
              </a:rPr>
              <a:t>解壓 Week01_Antigravity_Project.zip ➔ 執行 starter.py ➔ verify.py 驗收通過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065F46"/>
                </a:solidFill>
                <a:latin typeface="微軟正黑體"/>
              </a:rPr>
              <a:t>💡 電腦教室實戰：一人一機下載 Week01_Antigravity_Project.zip，動手做出真正可運行的產出！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總結與作業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01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第 01 週學習總結與課後自主任務清單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✅ 任務 1：確認 GitHub 帳號註冊成功並在 GitHub Desktop 登入完成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✅ 任務 2：確認已將課程倉庫 Clone 至本機並能以 VS Code 開啟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✅ 任務 3：在終端機成功執行 `python starter.py` 與 `python verify.py`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✅ 任務 4：登入線上平台綁定學號姓名，並完成第 01 週線上 5 題隨堂快測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下週預告 (第 02 週)：企業模式與企業流程管理 (BPR) ✕ 狀態機自動化實務！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關鍵提點：若任何步驟有疑問，週一 Office Hour (15:00~16:00 J801-1) 歡迎前來諮詢！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